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fec23733-02c2-522a-67e0-ef4b294760f0}">
          <p14:sldIdLst>
            <p14:sldId id="256"/>
            <p14:sldId id="257"/>
            <p14:sldId id="258"/>
          </p14:sldIdLst>
        </p14:section>
        <p14:section name="仕組み" id="{c631ff34-90bd-2f10-740d-8e8829dc7e8a}">
          <p14:sldIdLst>
            <p14:sldId id="259"/>
            <p14:sldId id="260"/>
            <p14:sldId id="261"/>
            <p14:sldId id="262"/>
          </p14:sldIdLst>
        </p14:section>
        <p14:section name="工夫と意義" id="{81f04b9d-ba9a-5d7f-d4d2-d241f2579c8d}">
          <p14:sldIdLst>
            <p14:sldId id="263"/>
            <p14:sldId id="264"/>
          </p14:sldIdLst>
        </p14:section>
        <p14:section name="成果とまとめ" id="{bd0a4727-872c-92e2-2164-a0b1daed8c05}">
          <p14:sldIdLst>
            <p14:sldId id="265"/>
            <p14:sldId id="266"/>
          </p14:sldIdLst>
        </p14:section>
        <p14:section name="付録（質疑用）" id="{426110c7-0568-c59b-b2f7-6ebe70d85d30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 altLang="en-US"/>
              <a:t>7/23/19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Click to edit Master text styles</a:t>
            </a:r>
          </a:p>
          <a:p>
            <a:pPr lvl="1"/>
            <a:r>
              <a:rPr lang="ja-JP" altLang="en-US"/>
              <a:t>Second level</a:t>
            </a:r>
          </a:p>
          <a:p>
            <a:pPr lvl="2"/>
            <a:r>
              <a:rPr lang="ja-JP" altLang="en-US"/>
              <a:t>Third level</a:t>
            </a:r>
          </a:p>
          <a:p>
            <a:pPr lvl="3"/>
            <a:r>
              <a:rPr lang="ja-JP" altLang="en-US"/>
              <a:t>Fourth level</a:t>
            </a:r>
          </a:p>
          <a:p>
            <a:pPr lvl="4"/>
            <a:r>
              <a:rPr lang="ja-JP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 altLang="en-US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【時間】約14秒（原稿66字）／本編合計 約239秒
【このスライドの主張】学内AI おいとまで、交流会の自己紹介を話題シールに変えるアプリを作った
【話す内容】「#おいとま活用中」です。学内AIのおいとまで、交流会の名札に“話題”を足し、肩書き以外の話から会話を始められるアプリを作りました。
【図・コードの説明ポイント】下のシール3枚は、アプリが印刷する実物と同じ配色（個性タグ＝黒地、共有タグ＝白地にオレンジ枠）。左が個性タグ1枚、右2枚が共有タグ。中身は説明用の架空例。
【次へのつなぎ】まず、なぜこれを作ったのかという出発点から説明します。
【根拠】docs/spec.md「概要とスコープ」／src/config/event.ts（appName、accentColor）／src/components/Sticker.tsx（シールの配色）／src/app/page.tsx（公開トップの見出し「名札に“話題”を足して、肩書き以外の話から始めよう」）
【確認の区分】実装確認：アプリ名・シールの配色。説明用の架空例：シールの文言（docs/PRESENTATION-TAG-GENERATION.md の例）。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【時間】約21秒（原稿102字）／本編合計 約239秒
【このスライドの主張】会話のきっかけを作るにはAIで回答を読み解きたいが、回答は個人情報なので扱う場所が問題になる
【話す内容】交流会の名札には、名前と所属しかありません。自己紹介から共通点を探せば話題になりますが、数十人、数百人分を手で読むのは大変です。そこでAIに任せたい。ただ、自己紹介は個人情報で、学外のAIには渡しにくい。
【図・コードの説明ポイント】左の名札は「名前と所属だけでは話題が見えない」ことの図示（人物・所属は架空）。3点目の『個人情報』が、後半の『おいとまを使う意義』（スライド9）につながる伏線。
【次へのつなぎ】そこで、何を作ったのかを具体例で見せます。
【根拠】docs/spec.md「概要とスコープ」（名札に話題シールを足す目的）／src/config/event.ts（参加者層：企業、研究者、学生、自治体関係者、PIPELINE.maxParticipants=300）／docs/spec.md「個人情報の扱い」
【確認の区分】仕様書記載：目的と参加者層、人数の上限300人。発表者の問題意識：手作業の大変さ・学外AIに渡しにくい点（効果の測定値ではない）。
【想定質問】Q：実際に会話は増えたのか？ → A：会場での会話促進効果はまだ測っていない。今後、実際の交流会で検証する。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【時間】約24秒（原稿122字）／本編合計 約239秒
【このスライドの主張】1人に個性タグ1つ＋共有タグ2つ。個性は「それ何？」、共有は「私も同じ」の入口
【話す内容】そこで、Formsの回答から1人3枚の話題シールを作ります。黒い個性タグは、その人だけの話題で「それ、何ですか？」の入口。オレンジの共有タグは何人かと共通で、「私も同じです」の入口です。カレーとラーメンのように表現が違っても、意味でまとめます。
【図・コードの説明ポイント】AさんとBさんの共有タグは同じ2つ（ごはん屋開拓勢、体を動かしたい）。回答の言葉は違う（カレー屋／ラーメン、ランニング／サイクリング）が、意味の近さでまとまる。この『意味でまとめる』部分が、AIが必要な理由。例は説明用の架空例で、実際の出力ではない。
【次へのつなぎ】このシールが、どういう流れで作られるかを見ます。
【根拠】docs/PRESENTATION-TAG-GENERATION.md「回答がタグに変わる具体例」「発表で伝える一文」／src/lib/pipeline/sticker.ts（個性タグは候補の1つ目、なければ「話しかけてね」）／src/components/StickerSet.tsx（1人1行に3枚）／docs/spec.md「話題シールのデザインと印刷」（タグは全角12文字以内）
【確認の区分】実装確認：個性1＋共有2の構成、配色。説明用の架空例：回答とタグの文言。
【想定質問】Q：不適切なタグが出たら？ → A：生成後に主催者が確認・修正する。NG語（病、年収、宗教など14語）を含むタグには確認用の印が付く（自動では消さない）。プロンプトでも家族・健康・恋愛・収入・宗教・政治・容姿・年齢の話題を禁止している（src/config/ng-words.ts、src/lib/llm/prompts.ts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【時間】約16秒（原稿77字）／本編合計 約239秒
【このスライドの主張】入力（Forms回答Excel）から出力（A4ラベル）まで、1つのWebアプリで進む。AIを使う中心は生成
【話す内容】流れは、回答Excelの取り込み、おいとまでのタグ生成、主催者の確認・修正、A4ラベルへの印刷です。すべて主催者のブラウザで進み、中心は3番目の生成です。
【図・コードの説明ポイント】①Formsの「Excelで開く」で落としたxlsx。②名前・所属・区分・自己紹介・一言・同意の列を自動判定し、外れたら選び直せる。③後のスライドで詳しく説明。④回答とシールを見比べ、個性タグの書き換え、共有タグの差し替えができる。⑤A4・24面（66.0×33.9mm）のラベル用紙に1人1行で印刷し、行ごとに切って配る。生成の途中で止めても「続きから作る」で再開できる。
【次へのつなぎ】中心の生成で、おいとまがどんな役割を持つかを説明します。
【根拠】src/lib/import/forms.ts（列の自動判定、同意なしの回答を空にする）／src/app/admin/{import,generate,review,print}/page.tsx／src/config/event.ts SHEET_PRESETS.label24／README.md「生成から印刷まで」
【確認の区分】実装確認：5つの画面・操作と24面印刷。受け入れ確認（2026-10-12、mock）で一連の操作を確認済み。
【想定質問】Q：Formsと自動で連携する？ → A：しない。主催者がExcelを書き出して取り込む（仕様書「作らないもの」）。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【時間】約28秒（原稿141字）／本編合計 約239秒
【このスライドの主張】ブラウザが指揮、サーバーが中継と検証、おいとまは意味の判断だけ。数の計算と保存はアプリ
【話す内容】おいとまの役割です。主催者のブラウザが生成全体を指揮し、Next.jsのサーバーを通しておいとまを呼びます。サーバーはAPIキーを持ち、指示文を組み立て、返ってきたJSONを検証します。おいとまが担うのは、話題の読み取り、共有タグへの言い換え、当てはまりの判断。言葉の処理だけです。
【図・コードの説明ポイント】矢印は要求と応答の往復（両向き）。ブラウザ→サーバーは /api/llm/extract・catalog・rank・summary・regenerate、サーバー→おいとまは OpenAI互換の POST {OITOMA_BASE_URL}/chat/completions（SDKは使わずfetch）。APIキーはサーバーの環境変数だけにあり、ブラウザには渡さない。生成の指揮をブラウザに置くのは、1回の呼び出しを数人分に短く保ってタイムアウトに強くし、進捗表示と途中再開を作り、サーバーに状態を持たないため（仕様書）。
【次へのつなぎ】では、おいとまをいつ呼ぶのかを説明します。
【根拠】docs/spec.md「全体構成」「おいとま連携」／src/lib/pipeline/llm-api.ts（ブラウザのfetch）／src/app/api/llm/*/route.ts（入力をzodで検証、ログは task・ms・attempts・ok のみ）／src/lib/llm/client.ts 179–217行（/chat/completions、Authorization: Bearer）／src/lib/llm/prompts.ts
【確認の区分】実装確認：通信経路、キーの置き場所、JSON検証。モデル名は環境変数 OITOMA_MODEL で選ぶ（README の例は qwen3.8-27b-it）。当日の実行モデルは設定次第。
【想定質問】Q：どのモデル？ → A：OpenAI互換APIのモデルを環境変数で選ぶ。README の設定例は qwen3.8-27b-it（高品質）、速さ優先なら qwen3.6-35b-a3b-it。
Q：なぜサーバーを挟む？ → A：キーをブラウザに配らないため。JSONの取り出し・検証・再試行と同時実行数の制限（同時3件、待機60件・120秒）を1か所にまとめるため。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【時間】約21秒（原稿104字）／本編合計 約239秒
【このスライドの主張】おいとまの呼び出しは、主催者がボタンを押す3つの場面に限られる
【話す内容】おいとまを呼ぶのは3つの場面です。事前に「タグをまとめて作る」を押すと、4種類の処理を順に呼びます。確認画面では、個性タグの別案を頼めます。当日の飛び入りは、その1人分だけを作り、ほかの人のタグは変えません。
【図・コードの説明ポイント】ボタン名は実際の画面の表記。①生成画面：extract→catalog→rank→（不足者だけ再rank）→summary。40人なら抽出5回・候補1回・順位3回・まとめ1回の最少10回（再要求・再試行は除く）。②確認画面：regenerate で個性タグ候補を3つ追加（候補は最大6件）。③取り込み画面の「1人分を手入力で追加」タブ：extract・rankをその1人だけに行い、割り当てはコード（assignOne）。失敗したら参加者を追加せず入力を残す。保存済み結果の読み込み・確認・印刷では呼ばない（オフラインでも可）。
【次へのつなぎ】一番大きい①の生成の中身を、5段階で説明します。
【根拠】src/app/admin/generate/page.tsx 203–216行・276行（runGeneration、ボタン）／src/app/admin/review/page.tsx 230–245行・625行（regenerate）／src/app/admin/import/page.tsx 220行・684行（generateForOne）／src/lib/pipeline/add-one.ts／docs/SPEC-ADD-1.md「データと処理」／README.md（保存済み結果には接続不要）
【確認の区分】実装確認：3つの呼び出し箇所とボタン名。呼び出し回数はバッチサイズ（8人・15人）からの計算値で、実測ではない。
【想定質問】Q：同時に何人も生成したら？ → A：1つのNode.jsサーバー全体で同時3件まで、残りは最大60件・120秒まで順番待ち（src/lib/llm/limiter.ts、環境変数で調整可）。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【時間】約28秒（原稿141字）／本編合計 約239秒
【このスライドの主張】5段階のうち、言葉を扱う①②③⑤をおいとま、④の割り当てをコードが担う。④で不足した人だけ③に戻る
【話す内容】生成の中身です。①おいとまが8人ずつ話題を読み取り、個性タグの候補を作ります。②全員分を見比べて共有タグの候補を作り、③各人に当てはまる順に並べます。④割り当てはコードです。少なすぎるタグを外し、1人2つの共有タグを決めます。足りない人だけ③をやり直し、⑤で会場の傾向をまとめます。
【図・コードの説明ポイント】強調は④。①extract：8人ずつ、同時3件。話題1〜5個と個性タグ候補3個。②catalog：全員で1回、候補は人数から決めた数（40人なら15個、最大40個）。③rank：15人ずつ、同時3件、1人5候補を当てはまる順に。④assign.ts：上位2つを持たせ、下限未満のタグを1つずつ外して割り当て直す。上限超えは別の候補へ付け替え。⑤summary：人数の多い上位8タグから会場の傾向を2〜3文に。失敗しても全体は止めない（skipped）。個性タグは候補の1つ目を採用。
【次へのつなぎ】なぜ④をAIではなくコードにしたのか。ここが技術的な工夫です。
【根拠】docs/spec.md「タグ生成パイプライン」「5つの段階」／src/lib/pipeline/run.ts（段階1：143–180行、段階2：182–211行、段階3：213–248行、段階4：250–341行、段階5：343–373行）／src/config/event.ts PIPELINE（8・15・同時3・rankLength 5）／src/lib/sizing.ts
【確認の区分】実装確認：5段階、バッチサイズ、並列数、戻りの条件、⑤の失敗時の扱い。
【想定質問】Q：1つの共有タグは何人くらい？ → A：参加人数から自動で決める。40人なら目安8人・下限4人・上限16人・候補15個（src/lib/sizing.ts）。上限は目安で、付け替え先がなければ超えることがあり、確認画面で分かる。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【時間】約25秒（原稿123字）／本編合計 約239秒
【このスライドの主張】AIに全員分の割り当てまで出させる案と比べ、AIは候補と順位まで・割り当てはコードとする分担を選んだ
【話す内容】技術的な工夫は、この役割分担です。AIに全員分の割り当てまで出させると、出力が長く崩れやすく、人数の下限も保証できません。そこでAIは候補と順位まで、割り当てはコードにしました。出力は数人分と短く、下限はコードが守り、失敗した分だけやり直せます。
【図・コードの説明ポイント】左の案は仕様書で検討した比較案で、実装・比較実験はしていない。仕様書の理由：「200人分の割り当てを一度に出力させずに済み、出力の崩れにも強くなる」。採用案では、下限未満のタグを人数の少ない順に1つずつ外して割り当て直す（付録A1にコード）。足りない人の補充は人数を増やすだけなので下限は崩れない。ただし採用できるタグが2つ未満になる極端な場合は、候補を戻して全員に2つ持たせることを優先し、要確認の印を付ける。数の処理はコードなので、assign.test.ts などの自動テストで確かめられる。
【次へのつなぎ】ここまでが仕組みと工夫です。最後に、学内AIのおいとまを使う意義を説明します。
【根拠】docs/spec.md「タグ生成パイプライン」冒頭・「割り当てのアルゴリズム」・「事前の試算」・決定事項4／src/lib/assign.ts 177–261行／src/lib/pipeline/run.ts 265–332行（補充）／src/lib/assign.test.ts／src/lib/llm/client.ts（呼び出しごとの再試行）／src/lib/pipeline/run.ts 147行・217行（続きからは未処理の人だけ）
【確認の区分】実装確認：採用案の割り当て・補充・再試行・再開。仕様書記載：比較案と選択理由、乱数の当てはまり順による事前試算（30回の試行で下限は全試行で守られた）。比較案は未実装で、性能差は測っていない。
【想定質問】Q：AIに一括でやらせる案と比較実験した？ → A：していない。出力長・検証可能性からの設計判断。仕様書の事前試算では、乱数で作った当てはまり順を30回試し、下限は全試行で守られた。40人で、ランダムな2人が共有タグを持つ割合は約44%（試算値で実績ではない）。
Q：上限は守る？ → A：上限は目安。超えたタグの人を別の候補に付け替えるが、付け替え先がなければ超える。確認画面に表示する。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【時間】約28秒（原稿139字）／本編合計 約239秒
【このスライドの主張】学内AIのおいとまなら、参加者の自己紹介という個人情報を、学外のAI事業者に渡さずにAIで処理できる。アプリ側でも送る情報と保存先を絞った
【話す内容】おいとまを使う意義です。自己紹介は個人情報ですが、学内AIのおいとまなら、学外のAI事業者に渡さずにAIで読み解けます。アプリ側でも、名前は送らずIDで処理し、同意のない人の自己紹介は送らず、サーバーにも保存しません。学内AIだからこそ、個人情報をセキュアにAIで処理できます。
【図・コードの説明ポイント】強調点：AIによる処理そのものが学内のおいとまで完結し、学外のAI事業者に回答を渡さない。根拠：①おいとまに送るのはID・所属・区分・自己紹介・一言・話題の要素で、名前は送らない（ExtractInput に名前の項目がない。2026-10-12の受け入れ確認で、1人追加の送信内容に名前がないことを確認）。②同意列が「同意しない」の人は、取り込み時に自己紹介と一言を空にする。③Next.jsサーバーは中継のみで、ログはタスク名・所要時間・試行回数・成否だけ。参加者データは主催者のブラウザ（localStorage）にだけ置き、イベント後に「このPCからデータを消す」で消す。おいとまが入力を再学習に使わない点は、仕様書がおいとまマニュアルを根拠に記載（マニュアル原本は今回の資料に含まれない）。注意：所属は送る。自由記述に書かれた人名の自動匿名化はしない。同意列がないExcelはデモ用に全員同意として扱い、警告を出す。学外の端末から使う場合は ngrok（Google認証）を経由する（付録A3）。
【次へのつなぎ】最後に、ここまでの実装で確認できた結果をお見せします。
【根拠】docs/spec.md「必ず守ること」「個人情報の扱い」「決定事項8」／src/lib/pipeline/run.ts 69–71行（toExtractInput：名前なし、同意なしは空）／src/lib/llm/schemas.ts 45–51行／src/lib/import/forms.ts 86–110行（同意列）／src/app/api/llm/*/route.ts（ログ）／src/lib/store.ts（localStorage 'nametag-app-v1'）／docs/ACCEPTANCE-2026-10-12.md 追加9／docs/NGROK.md §7
【確認の区分】実装確認：名前を送らない、同意なしの自己紹介を送らない、サーバーに保存しない。仕様書記載（原本未確認）：おいとまは学内で、入力を再学習に使わない。運用文書：学外からの利用はngrok経由。
【想定質問】Q：ngrokで外に出しているのでは？ → A：付録A3。AIの処理は学内のおいとまで行う。学外の端末からの通信はGoogle認証付きのngrokを通り、手順書では通信内容を保存しない設定にしている。基本の運用（学内のPCで直接操作）ではngrokを通らない。
Q：所属は送るのか？ → A：送る。タグの文脈理解に使う。名前は送らない。
Q：再学習は？ → A：仕様書には、おいとまマニュアルの記載として「入力を再学習に使わない」とある。原本の規程は今回の資料には含めていない。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【時間】約17秒（原稿82字）／本編合計 約239秒
【このスライドの主張】自動テストと受け入れ確認で、取り込み・生成・1人追加・印刷の一連の動作を確認した
【話す内容】結果です。自動テスト98件がすべて成功し、取り込みから1人追加、印刷までの受け入れ確認18項目を通しました。本物のおいとまの出力を見ながら、指示文も改善しています。
【図・コードの説明ポイント】98/98：2026-10-15に npm test（Vitest）を実行し、17ファイル98件が成功。18/18：2026-10-12にmock（おいとまを呼ばない練習モード）で基本9項目・追加9項目の受け入れ確認が成功。120枚：40人分のシールをA4 5ページに配置した印刷PDFで、はみ出し0件と全員分の文字を確認。live：本物のおいとまで「学生生活送ってます」のような肩書きの言い直しタグが出たため、2026-10-15に指示文で禁止した。未計測：会場での会話促進効果、liveの所要時間とタグの品質評価、実紙での位置合わせ。
【次へのつなぎ】まとめます。
【根拠】npm test 実行結果（2026-10-15、17ファイル・98件成功）／docs/ACCEPTANCE-2026-10-12.md（基本1〜9・追加1〜9、基本7のPDF検査）／docs/DECISIONS.md「タグ品質2026-10-15」／git 480d010「prompt修正」
【確認の区分】今回実行で確認：98テスト。過去の記録（日付付き、mock）：18項目、40人120枚のPDF。記録あり（数値なし）：liveの出力を受けた指示文の修正。未計測：会話効果、live性能。
【想定質問】Q：本物のおいとまでの生成時間は？ → A：記録した数値がなく、資料からは示せない。受け入れ確認の約3.2秒（40人）はmockの値で、おいとまの速度ではない。
Q：精度は？ → A：タグの品質の定量評価はまだ。主催者の確認・修正を前提にしている。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【時間】約17秒（原稿81字）／本編合計 約239秒
【このスライドの主張】分担の設計、一連の動作、学内AIによる個人情報の扱いの3点が成果
【話す内容】まとめです。言葉はおいとま、人数はコードで分担し、Excelから印刷までつなげました。そして個人情報を、学内AIでセキュアに処理できます。ありがとうございました。
【図・コードの説明ポイント】3点は、スライド8（工夫）、4・10（流れと結果）、9（意義）に対応。質疑では付録A1〜A3を使う。
【次へのつなぎ】（質疑へ）
【根拠】本編スライド4〜10の根拠と同じ
【確認の区分】本編の確認区分を引き継ぐ。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【時間】質疑用の付録。4分の本編には含めない
【このスライドの主張】assign.ts の中心ループ。上位2つを持たせ、下限未満のタグがなくなるまで最少のタグを外す
【図・コードの説明ポイント】コードは src/lib/assign.ts 233–251行から抜粋。変数名・処理は実コードのまま。「…」は省略（victim を選ぶ8行：下限未満のうち人数が最少、同数なら候補の並びで後ろのもの）。長い式は投影のため改行位置だけ変えた。この後、最後の active で pickTop2 と resolveOverflow をもう一度行い、2つ持てなかった人を shortIds として返す（run.ts で再rankと補充）。
【根拠】src/lib/assign.ts 177–261行／src/lib/assign.test.ts／docs/spec.md「割り当てのアルゴリズム」
【確認の区分】実装確認。
【想定質問】Q：ループは必ず終わる？ → A：1周で候補を1つ外すので、最大で候補の数だけ回る（for の上限も candidateIds.length）。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【時間】質疑用の付録。4分の本編には含めない
【このスライドの主張】おいとまの応答から JSON を取り出し、zodで検証し、失敗理由を会話に足して再依頼する
【図・コードの説明ポイント】コードは src/lib/llm/client.ts 280–311行から抜粋。「…」は省略（ログ出力、理由の組み立て）。extractJsonText は &lt;think&gt;…&lt;/think&gt; とコードブロック記号を除き、最初の { から最後の } までを取り出す（62–79行）。通信エラー・429・5xxは2秒・5秒待って再試行、401・403は再試行しない。400はJSONモードや追加パラメータを外して送り直し、通った組み合わせを覚える（試行回数に数えない）。応答が空なら次の試行で max_tokens を3倍にする。
【根拠】src/lib/llm/client.ts 62–79行・188–313行／src/lib/llm/client.test.ts（コードブロック・think・前後の文・途中で切れたJSON・400の段階的な縮退・403）／src/lib/llm/schemas.ts
【確認の区分】実装確認。
【想定質問】Q：検証に通れば内容も正しい？ → A：形式・件数・文字数・候補IDは保証するが、意味の正しさまでは保証しない。主催者の確認・修正で補う。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【時間】質疑用の付録。4分の本編には含めない
【このスライドの主張】AIの処理は学内。学外の端末から操作する場合は、Google認証付きのngrokを経由する
【図・コードの説明ポイント】2026-10-14の運用方針：Vercelへのデプロイはせず、学内ネットワーク／OU-VPNにつないだPCのアプリ全ページとAPIを、ngrokのGoogle認証と許可メール一覧で利用者限定にする。外部ブラウザのAPI通信はngrokを経由するため、「回答は学内から出ない」という基本仕様の前提は変わる（NGROK.md §7）。おいとまのキーはサーバーに置き、ブラウザには配らない。手順書では --inspect=false とし、Traffic Inspector の Full Capture を有効にしない（通信内容を残さない）。アプリ自体にログイン機能はない。トンネルの開設・認証の動作確認の結果は、資料上は記録がない。
【根拠】README.md（2026-10-14の運用方針）／docs/NGROK.md §1・§5〜§8／docs/DECISIONS.md「公開方針2026-10-14」／src/lib/admin.ts
【確認の区分】運用文書（手順書）。稼働・認証の確認記録なし。
【想定質問】Q：ngrok側に回答が残らない？ → A：ngrok公式は通常の通信内容は保存せず、Full Captureを有効にすると本文を保存すると説明している（NGROK.md §7の引用）。手順書では無効のまま運用する。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 altLang="en-US"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25880"/>
            <a:ext cx="1091153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4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buNone/>
            </a:pPr>
            <a:endParaRPr lang="ja-JP" alt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本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buNone/>
            </a:pPr>
            <a:endParaRPr lang="ja-JP" alt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1003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まとめ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defRPr>
            </a:lvl1pPr>
          </a:lstStyle>
          <a:p>
            <a:pPr algn="l" indent="0" marL="0">
              <a:buNone/>
            </a:pPr>
            <a:endParaRPr lang="ja-JP" alt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1004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null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-name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#おいとま活用中</a:t>
            </a:r>
            <a:endParaRPr lang="ja-JP" altLang="en-US" sz="2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258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4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名札に「話題」を足して、</a:t>
            </a:r>
            <a:endParaRPr lang="ja-JP" altLang="en-US" sz="4400" dirty="0"/>
          </a:p>
          <a:p>
            <a:pPr algn="l" indent="0" marL="0">
              <a:buNone/>
            </a:pPr>
            <a:r>
              <a:rPr lang="ja-JP" altLang="en-US" sz="4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肩書き以外の話から始める</a:t>
            </a:r>
            <a:endParaRPr lang="ja-JP" alt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20040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学内AI おいとまで、交流会の自己紹介を話題シールに</a:t>
            </a:r>
            <a:endParaRPr lang="ja-JP" altLang="en-US" sz="2400" dirty="0"/>
          </a:p>
        </p:txBody>
      </p:sp>
      <p:sp>
        <p:nvSpPr>
          <p:cNvPr id="5" name="label-sheet"/>
          <p:cNvSpPr/>
          <p:nvPr/>
        </p:nvSpPr>
        <p:spPr>
          <a:xfrm>
            <a:off x="640080" y="4160520"/>
            <a:ext cx="8138160" cy="1664208"/>
          </a:xfrm>
          <a:prstGeom prst="roundRect">
            <a:avLst>
              <a:gd name="adj" fmla="val 65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ticker-personal"/>
          <p:cNvSpPr txBox="1"/>
          <p:nvPr/>
        </p:nvSpPr>
        <p:spPr>
          <a:xfrm>
            <a:off x="841248" y="4361688"/>
            <a:ext cx="2468880" cy="1261872"/>
          </a:xfrm>
          <a:prstGeom prst="roundRect">
            <a:avLst>
              <a:gd name="adj" fmla="val 724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#カレー屋を開拓中</a:t>
            </a:r>
            <a:endParaRPr lang="ja-JP" altLang="en-US" sz="1900" dirty="0"/>
          </a:p>
        </p:txBody>
      </p:sp>
      <p:sp>
        <p:nvSpPr>
          <p:cNvPr id="7" name="sticker-shared"/>
          <p:cNvSpPr txBox="1"/>
          <p:nvPr/>
        </p:nvSpPr>
        <p:spPr>
          <a:xfrm>
            <a:off x="3474720" y="4361688"/>
            <a:ext cx="2468880" cy="1261872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#ごはん屋開拓勢</a:t>
            </a:r>
            <a:endParaRPr lang="ja-JP" altLang="en-US" sz="1900" dirty="0"/>
          </a:p>
        </p:txBody>
      </p:sp>
      <p:sp>
        <p:nvSpPr>
          <p:cNvPr id="8" name="sticker-shared"/>
          <p:cNvSpPr txBox="1"/>
          <p:nvPr/>
        </p:nvSpPr>
        <p:spPr>
          <a:xfrm>
            <a:off x="6108192" y="4361688"/>
            <a:ext cx="2468880" cy="1261872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#体を動かしたい</a:t>
            </a:r>
            <a:endParaRPr lang="ja-JP" altLang="en-US" sz="1900" dirty="0"/>
          </a:p>
        </p:txBody>
      </p:sp>
      <p:sp>
        <p:nvSpPr>
          <p:cNvPr id="9" name="sticker-caption"/>
          <p:cNvSpPr txBox="1"/>
          <p:nvPr/>
        </p:nvSpPr>
        <p:spPr>
          <a:xfrm>
            <a:off x="9098280" y="4425696"/>
            <a:ext cx="2453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個性タグ 1</a:t>
            </a:r>
            <a:endParaRPr lang="ja-JP" alt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 共有タグ 2</a:t>
            </a:r>
            <a:endParaRPr lang="ja-JP" altLang="en-US" sz="2000" dirty="0"/>
          </a:p>
        </p:txBody>
      </p:sp>
      <p:sp>
        <p:nvSpPr>
          <p:cNvPr id="10" name="example-note"/>
          <p:cNvSpPr txBox="1"/>
          <p:nvPr/>
        </p:nvSpPr>
        <p:spPr>
          <a:xfrm>
            <a:off x="9098280" y="5248656"/>
            <a:ext cx="2453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（説明用の架空例）</a:t>
            </a:r>
            <a:endParaRPr lang="ja-JP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0810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#課題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話題づくりにAIを使いたい、でも回答は個人情報</a:t>
            </a:r>
            <a:endParaRPr lang="ja-JP" altLang="en-US" sz="3400" dirty="0"/>
          </a:p>
        </p:txBody>
      </p:sp>
      <p:sp>
        <p:nvSpPr>
          <p:cNvPr id="4" name="name-card"/>
          <p:cNvSpPr/>
          <p:nvPr/>
        </p:nvSpPr>
        <p:spPr>
          <a:xfrm>
            <a:off x="640080" y="2148840"/>
            <a:ext cx="4206240" cy="2651760"/>
          </a:xfrm>
          <a:prstGeom prst="roundRect">
            <a:avLst>
              <a:gd name="adj" fmla="val 517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name-card-affiliation"/>
          <p:cNvSpPr txBox="1"/>
          <p:nvPr/>
        </p:nvSpPr>
        <p:spPr>
          <a:xfrm>
            <a:off x="100584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○○株式会社 開発部</a:t>
            </a:r>
            <a:endParaRPr lang="ja-JP" altLang="en-US" sz="2000" dirty="0"/>
          </a:p>
        </p:txBody>
      </p:sp>
      <p:sp>
        <p:nvSpPr>
          <p:cNvPr id="6" name="name-card-name"/>
          <p:cNvSpPr txBox="1"/>
          <p:nvPr/>
        </p:nvSpPr>
        <p:spPr>
          <a:xfrm>
            <a:off x="100584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4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岡山 花子</a:t>
            </a:r>
            <a:endParaRPr lang="ja-JP" altLang="en-US" sz="4400" dirty="0"/>
          </a:p>
        </p:txBody>
      </p:sp>
      <p:sp>
        <p:nvSpPr>
          <p:cNvPr id="7" name="question-mark"/>
          <p:cNvSpPr txBox="1"/>
          <p:nvPr/>
        </p:nvSpPr>
        <p:spPr>
          <a:xfrm>
            <a:off x="4160520" y="1828800"/>
            <a:ext cx="868680" cy="8686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36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？</a:t>
            </a:r>
            <a:endParaRPr lang="ja-JP" altLang="en-US" sz="3600" dirty="0"/>
          </a:p>
        </p:txBody>
      </p:sp>
      <p:sp>
        <p:nvSpPr>
          <p:cNvPr id="8" name="name-card-caption"/>
          <p:cNvSpPr txBox="1"/>
          <p:nvPr/>
        </p:nvSpPr>
        <p:spPr>
          <a:xfrm>
            <a:off x="64008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名札にあるのは名前と所属だけ</a:t>
            </a:r>
            <a:endParaRPr lang="ja-JP" altLang="en-US" sz="1800" dirty="0"/>
          </a:p>
        </p:txBody>
      </p:sp>
      <p:sp>
        <p:nvSpPr>
          <p:cNvPr id="9" name="item-no-1"/>
          <p:cNvSpPr txBox="1"/>
          <p:nvPr/>
        </p:nvSpPr>
        <p:spPr>
          <a:xfrm>
            <a:off x="557784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altLang="en-US" sz="2400" dirty="0"/>
          </a:p>
        </p:txBody>
      </p:sp>
      <p:sp>
        <p:nvSpPr>
          <p:cNvPr id="10" name="item-1"/>
          <p:cNvSpPr txBox="1"/>
          <p:nvPr/>
        </p:nvSpPr>
        <p:spPr>
          <a:xfrm>
            <a:off x="6309360" y="22402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話のきっかけが、名札からは見えない</a:t>
            </a:r>
            <a:endParaRPr lang="ja-JP" altLang="en-US" sz="2400" dirty="0"/>
          </a:p>
        </p:txBody>
      </p:sp>
      <p:sp>
        <p:nvSpPr>
          <p:cNvPr id="11" name="item-no-2"/>
          <p:cNvSpPr txBox="1"/>
          <p:nvPr/>
        </p:nvSpPr>
        <p:spPr>
          <a:xfrm>
            <a:off x="5577840" y="3566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altLang="en-US" sz="2400" dirty="0"/>
          </a:p>
        </p:txBody>
      </p:sp>
      <p:sp>
        <p:nvSpPr>
          <p:cNvPr id="12" name="item-2"/>
          <p:cNvSpPr txBox="1"/>
          <p:nvPr/>
        </p:nvSpPr>
        <p:spPr>
          <a:xfrm>
            <a:off x="6309360" y="3566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数十〜数百人の自己紹介から共通点を探すのは、手作業では難しい</a:t>
            </a:r>
            <a:endParaRPr lang="ja-JP" altLang="en-US" sz="2400" dirty="0"/>
          </a:p>
        </p:txBody>
      </p:sp>
      <p:sp>
        <p:nvSpPr>
          <p:cNvPr id="13" name="item-highlight-3"/>
          <p:cNvSpPr/>
          <p:nvPr/>
        </p:nvSpPr>
        <p:spPr>
          <a:xfrm>
            <a:off x="5394960" y="4764024"/>
            <a:ext cx="6217920" cy="1216152"/>
          </a:xfrm>
          <a:prstGeom prst="roundRect">
            <a:avLst>
              <a:gd name="adj" fmla="val 902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item-no-3"/>
          <p:cNvSpPr txBox="1"/>
          <p:nvPr/>
        </p:nvSpPr>
        <p:spPr>
          <a:xfrm>
            <a:off x="5577840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altLang="en-US" sz="2400" dirty="0"/>
          </a:p>
        </p:txBody>
      </p:sp>
      <p:sp>
        <p:nvSpPr>
          <p:cNvPr id="15" name="item-3"/>
          <p:cNvSpPr txBox="1"/>
          <p:nvPr/>
        </p:nvSpPr>
        <p:spPr>
          <a:xfrm>
            <a:off x="6309360" y="48920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自己紹介は個人情報。学外のAIには渡しにくい</a:t>
            </a:r>
            <a:endParaRPr lang="ja-JP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2</a:t>
            </a:fld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6906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#つくるもの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回答から、会話の入口になる3枚のシールを作る</a:t>
            </a:r>
            <a:endParaRPr lang="ja-JP" altLang="en-US" sz="3400" dirty="0"/>
          </a:p>
        </p:txBody>
      </p:sp>
      <p:sp>
        <p:nvSpPr>
          <p:cNvPr id="4" name="head-personal"/>
          <p:cNvSpPr txBox="1"/>
          <p:nvPr/>
        </p:nvSpPr>
        <p:spPr>
          <a:xfrm>
            <a:off x="4617720" y="182880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個性タグ</a:t>
            </a:r>
            <a:endParaRPr lang="ja-JP" altLang="en-US" sz="1800" dirty="0"/>
          </a:p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「それ、何ですか？」</a:t>
            </a:r>
            <a:endParaRPr lang="ja-JP" altLang="en-US" sz="1800" dirty="0"/>
          </a:p>
        </p:txBody>
      </p:sp>
      <p:sp>
        <p:nvSpPr>
          <p:cNvPr id="5" name="head-shared"/>
          <p:cNvSpPr txBox="1"/>
          <p:nvPr/>
        </p:nvSpPr>
        <p:spPr>
          <a:xfrm>
            <a:off x="6976872" y="182880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共有タグ</a:t>
            </a:r>
            <a:endParaRPr lang="ja-JP" altLang="en-US" sz="1800" dirty="0"/>
          </a:p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「私も同じです」</a:t>
            </a:r>
            <a:endParaRPr lang="ja-JP" altLang="en-US" sz="1800" dirty="0"/>
          </a:p>
        </p:txBody>
      </p:sp>
      <p:sp>
        <p:nvSpPr>
          <p:cNvPr id="6" name="head-answer"/>
          <p:cNvSpPr txBox="1"/>
          <p:nvPr/>
        </p:nvSpPr>
        <p:spPr>
          <a:xfrm>
            <a:off x="640080" y="21762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回答（説明用の架空例）</a:t>
            </a:r>
            <a:endParaRPr lang="ja-JP" altLang="en-US" sz="1800" dirty="0"/>
          </a:p>
        </p:txBody>
      </p:sp>
      <p:sp>
        <p:nvSpPr>
          <p:cNvPr id="7" name="answer-A"/>
          <p:cNvSpPr txBox="1"/>
          <p:nvPr/>
        </p:nvSpPr>
        <p:spPr>
          <a:xfrm>
            <a:off x="640080" y="269748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Aさん　</a:t>
            </a:r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カレー屋を開拓中。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最近ランニングを始めた</a:t>
            </a:r>
            <a:endParaRPr lang="ja-JP" altLang="en-US" sz="1800" dirty="0"/>
          </a:p>
        </p:txBody>
      </p:sp>
      <p:cxnSp>
        <p:nvCxnSpPr>
          <p:cNvPr id="8" name="arrow-A"/>
          <p:cNvCxnSpPr>
            <a:stCxn id="7" idx="3"/>
            <a:endCxn id="9" idx="1"/>
          </p:cNvCxnSpPr>
          <p:nvPr/>
        </p:nvCxnSpPr>
        <p:spPr>
          <a:xfrm>
            <a:off x="4270248" y="3246120"/>
            <a:ext cx="237744" cy="0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cxnSp>
      <p:sp>
        <p:nvSpPr>
          <p:cNvPr id="9" name="sticker-A-personal"/>
          <p:cNvSpPr txBox="1"/>
          <p:nvPr/>
        </p:nvSpPr>
        <p:spPr>
          <a:xfrm>
            <a:off x="4617720" y="269748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#カレー屋を開拓中</a:t>
            </a:r>
            <a:endParaRPr lang="ja-JP" altLang="en-US" sz="1800" dirty="0"/>
          </a:p>
        </p:txBody>
      </p:sp>
      <p:sp>
        <p:nvSpPr>
          <p:cNvPr id="10" name="sticker-A-shared1"/>
          <p:cNvSpPr txBox="1"/>
          <p:nvPr/>
        </p:nvSpPr>
        <p:spPr>
          <a:xfrm>
            <a:off x="6976872" y="269748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#ごはん屋開拓勢</a:t>
            </a:r>
            <a:endParaRPr lang="ja-JP" altLang="en-US" sz="1800" dirty="0"/>
          </a:p>
        </p:txBody>
      </p:sp>
      <p:sp>
        <p:nvSpPr>
          <p:cNvPr id="11" name="sticker-A-shared2"/>
          <p:cNvSpPr txBox="1"/>
          <p:nvPr/>
        </p:nvSpPr>
        <p:spPr>
          <a:xfrm>
            <a:off x="9336024" y="269748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#体を動かしたい</a:t>
            </a:r>
            <a:endParaRPr lang="ja-JP" altLang="en-US" sz="1800" dirty="0"/>
          </a:p>
        </p:txBody>
      </p:sp>
      <p:sp>
        <p:nvSpPr>
          <p:cNvPr id="12" name="answer-B"/>
          <p:cNvSpPr txBox="1"/>
          <p:nvPr/>
        </p:nvSpPr>
        <p:spPr>
          <a:xfrm>
            <a:off x="640080" y="4114800"/>
            <a:ext cx="35204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Bさん　</a:t>
            </a:r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ラーメンの食べ歩きと</a:t>
            </a:r>
            <a:endParaRPr lang="ja-JP" altLang="en-US" sz="1800" dirty="0"/>
          </a:p>
          <a:p>
            <a:pPr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サイクリングが好き</a:t>
            </a:r>
            <a:endParaRPr lang="ja-JP" altLang="en-US" sz="1800" dirty="0"/>
          </a:p>
        </p:txBody>
      </p:sp>
      <p:cxnSp>
        <p:nvCxnSpPr>
          <p:cNvPr id="13" name="arrow-B"/>
          <p:cNvCxnSpPr>
            <a:stCxn id="12" idx="3"/>
            <a:endCxn id="14" idx="1"/>
          </p:cNvCxnSpPr>
          <p:nvPr/>
        </p:nvCxnSpPr>
        <p:spPr>
          <a:xfrm>
            <a:off x="4270248" y="4663440"/>
            <a:ext cx="237744" cy="0"/>
          </a:xfrm>
          <a:prstGeom prst="straightConnector1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cxnSp>
      <p:sp>
        <p:nvSpPr>
          <p:cNvPr id="14" name="sticker-B-personal"/>
          <p:cNvSpPr txBox="1"/>
          <p:nvPr/>
        </p:nvSpPr>
        <p:spPr>
          <a:xfrm>
            <a:off x="4617720" y="411480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#サイクリング好き</a:t>
            </a:r>
            <a:endParaRPr lang="ja-JP" altLang="en-US" sz="1800" dirty="0"/>
          </a:p>
        </p:txBody>
      </p:sp>
      <p:sp>
        <p:nvSpPr>
          <p:cNvPr id="15" name="sticker-B-shared1"/>
          <p:cNvSpPr txBox="1"/>
          <p:nvPr/>
        </p:nvSpPr>
        <p:spPr>
          <a:xfrm>
            <a:off x="6976872" y="411480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#ごはん屋開拓勢</a:t>
            </a:r>
            <a:endParaRPr lang="ja-JP" altLang="en-US" sz="1800" dirty="0"/>
          </a:p>
        </p:txBody>
      </p:sp>
      <p:sp>
        <p:nvSpPr>
          <p:cNvPr id="16" name="sticker-B-shared2"/>
          <p:cNvSpPr txBox="1"/>
          <p:nvPr/>
        </p:nvSpPr>
        <p:spPr>
          <a:xfrm>
            <a:off x="9336024" y="4114800"/>
            <a:ext cx="2176272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#体を動かしたい</a:t>
            </a:r>
            <a:endParaRPr lang="ja-JP" altLang="en-US" sz="1800" dirty="0"/>
          </a:p>
        </p:txBody>
      </p:sp>
      <p:sp>
        <p:nvSpPr>
          <p:cNvPr id="17" name="shared-match"/>
          <p:cNvSpPr/>
          <p:nvPr/>
        </p:nvSpPr>
        <p:spPr>
          <a:xfrm>
            <a:off x="6867144" y="2587752"/>
            <a:ext cx="4754880" cy="2734056"/>
          </a:xfrm>
          <a:prstGeom prst="roundRect">
            <a:avLst>
              <a:gd name="adj" fmla="val 5017"/>
            </a:avLst>
          </a:prstGeom>
          <a:ln w="22225">
            <a:solidFill>
              <a:schemeClr val="accent1"/>
            </a:solidFill>
            <a:prstDash val="dash"/>
          </a:ln>
        </p:spPr>
      </p:sp>
      <p:sp>
        <p:nvSpPr>
          <p:cNvPr id="18" name="message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表現が違っても、</a:t>
            </a:r>
            <a:pPr indent="0" marL="0">
              <a:buNone/>
            </a:pPr>
            <a:r>
              <a:rPr lang="ja-JP" altLang="en-US" sz="24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意味の近い話題をまとめる</a:t>
            </a:r>
            <a:endParaRPr lang="ja-JP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3</a:t>
            </a:fld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6906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#処理の流れ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Excelを読み込めば、印刷まで主催者の画面で完結</a:t>
            </a:r>
            <a:endParaRPr lang="ja-JP" altLang="en-US" sz="3400" dirty="0"/>
          </a:p>
        </p:txBody>
      </p:sp>
      <p:sp>
        <p:nvSpPr>
          <p:cNvPr id="4" name="step-no-1"/>
          <p:cNvSpPr txBox="1"/>
          <p:nvPr/>
        </p:nvSpPr>
        <p:spPr>
          <a:xfrm>
            <a:off x="640080" y="205740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altLang="en-US" sz="2000" dirty="0"/>
          </a:p>
        </p:txBody>
      </p:sp>
      <p:sp>
        <p:nvSpPr>
          <p:cNvPr id="5" name="step-1"/>
          <p:cNvSpPr txBox="1"/>
          <p:nvPr/>
        </p:nvSpPr>
        <p:spPr>
          <a:xfrm>
            <a:off x="640080" y="2514600"/>
            <a:ext cx="1918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回答Excel</a:t>
            </a:r>
            <a:endParaRPr lang="ja-JP" altLang="en-US" sz="24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Formsの書き出し</a:t>
            </a:r>
            <a:endParaRPr lang="ja-JP" altLang="en-US" sz="2400" dirty="0"/>
          </a:p>
        </p:txBody>
      </p:sp>
      <p:cxnSp>
        <p:nvCxnSpPr>
          <p:cNvPr id="6" name="step-arrow-1"/>
          <p:cNvCxnSpPr>
            <a:stCxn id="5" idx="3"/>
            <a:endCxn id="8" idx="1"/>
          </p:cNvCxnSpPr>
          <p:nvPr/>
        </p:nvCxnSpPr>
        <p:spPr>
          <a:xfrm>
            <a:off x="2613904" y="34290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7" name="step-no-2"/>
          <p:cNvSpPr txBox="1"/>
          <p:nvPr/>
        </p:nvSpPr>
        <p:spPr>
          <a:xfrm>
            <a:off x="2888224" y="205740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altLang="en-US" sz="2000" dirty="0"/>
          </a:p>
        </p:txBody>
      </p:sp>
      <p:sp>
        <p:nvSpPr>
          <p:cNvPr id="8" name="step-2"/>
          <p:cNvSpPr txBox="1"/>
          <p:nvPr/>
        </p:nvSpPr>
        <p:spPr>
          <a:xfrm>
            <a:off x="2888224" y="2514600"/>
            <a:ext cx="1918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取り込み</a:t>
            </a:r>
            <a:endParaRPr lang="ja-JP" altLang="en-US" sz="24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列を自動判定</a:t>
            </a:r>
            <a:endParaRPr lang="ja-JP" altLang="en-US" sz="2400" dirty="0"/>
          </a:p>
        </p:txBody>
      </p:sp>
      <p:cxnSp>
        <p:nvCxnSpPr>
          <p:cNvPr id="9" name="step-arrow-2"/>
          <p:cNvCxnSpPr>
            <a:stCxn id="8" idx="3"/>
            <a:endCxn id="11" idx="1"/>
          </p:cNvCxnSpPr>
          <p:nvPr/>
        </p:nvCxnSpPr>
        <p:spPr>
          <a:xfrm>
            <a:off x="4862048" y="34290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0" name="step-no-3"/>
          <p:cNvSpPr txBox="1"/>
          <p:nvPr/>
        </p:nvSpPr>
        <p:spPr>
          <a:xfrm>
            <a:off x="5136368" y="205740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altLang="en-US" sz="2000" dirty="0"/>
          </a:p>
        </p:txBody>
      </p:sp>
      <p:sp>
        <p:nvSpPr>
          <p:cNvPr id="11" name="step-3"/>
          <p:cNvSpPr txBox="1"/>
          <p:nvPr/>
        </p:nvSpPr>
        <p:spPr>
          <a:xfrm>
            <a:off x="5136368" y="2514600"/>
            <a:ext cx="19189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タグ生成</a:t>
            </a:r>
            <a:endParaRPr lang="ja-JP" altLang="en-US" sz="24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おいとま＋コード</a:t>
            </a:r>
            <a:endParaRPr lang="ja-JP" altLang="en-US" sz="2400" dirty="0"/>
          </a:p>
        </p:txBody>
      </p:sp>
      <p:cxnSp>
        <p:nvCxnSpPr>
          <p:cNvPr id="12" name="step-arrow-3"/>
          <p:cNvCxnSpPr>
            <a:stCxn id="11" idx="3"/>
            <a:endCxn id="14" idx="1"/>
          </p:cNvCxnSpPr>
          <p:nvPr/>
        </p:nvCxnSpPr>
        <p:spPr>
          <a:xfrm>
            <a:off x="7110192" y="34290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3" name="step-no-4"/>
          <p:cNvSpPr txBox="1"/>
          <p:nvPr/>
        </p:nvSpPr>
        <p:spPr>
          <a:xfrm>
            <a:off x="7384512" y="205740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ja-JP" altLang="en-US" sz="2000" dirty="0"/>
          </a:p>
        </p:txBody>
      </p:sp>
      <p:sp>
        <p:nvSpPr>
          <p:cNvPr id="14" name="step-4"/>
          <p:cNvSpPr txBox="1"/>
          <p:nvPr/>
        </p:nvSpPr>
        <p:spPr>
          <a:xfrm>
            <a:off x="7384512" y="2514600"/>
            <a:ext cx="1918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確認・修正</a:t>
            </a:r>
            <a:endParaRPr lang="ja-JP" altLang="en-US" sz="24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主催者が編集</a:t>
            </a:r>
            <a:endParaRPr lang="ja-JP" altLang="en-US" sz="2400" dirty="0"/>
          </a:p>
        </p:txBody>
      </p:sp>
      <p:cxnSp>
        <p:nvCxnSpPr>
          <p:cNvPr id="15" name="step-arrow-4"/>
          <p:cNvCxnSpPr>
            <a:stCxn id="14" idx="3"/>
            <a:endCxn id="17" idx="1"/>
          </p:cNvCxnSpPr>
          <p:nvPr/>
        </p:nvCxnSpPr>
        <p:spPr>
          <a:xfrm>
            <a:off x="9358335" y="34290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6" name="step-no-5"/>
          <p:cNvSpPr txBox="1"/>
          <p:nvPr/>
        </p:nvSpPr>
        <p:spPr>
          <a:xfrm>
            <a:off x="9632655" y="205740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ja-JP" altLang="en-US" sz="2000" dirty="0"/>
          </a:p>
        </p:txBody>
      </p:sp>
      <p:sp>
        <p:nvSpPr>
          <p:cNvPr id="17" name="step-5"/>
          <p:cNvSpPr txBox="1"/>
          <p:nvPr/>
        </p:nvSpPr>
        <p:spPr>
          <a:xfrm>
            <a:off x="9632655" y="2514600"/>
            <a:ext cx="19189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印刷</a:t>
            </a:r>
            <a:endParaRPr lang="ja-JP" altLang="en-US" sz="24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A4・24面ラベル</a:t>
            </a:r>
            <a:endParaRPr lang="ja-JP" altLang="en-US" sz="2400" dirty="0"/>
          </a:p>
        </p:txBody>
      </p:sp>
      <p:sp>
        <p:nvSpPr>
          <p:cNvPr id="18" name="label-in"/>
          <p:cNvSpPr txBox="1"/>
          <p:nvPr/>
        </p:nvSpPr>
        <p:spPr>
          <a:xfrm>
            <a:off x="640080" y="4480560"/>
            <a:ext cx="191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</a:t>
            </a:r>
            <a:endParaRPr lang="ja-JP" altLang="en-US" sz="1800" dirty="0"/>
          </a:p>
        </p:txBody>
      </p:sp>
      <p:sp>
        <p:nvSpPr>
          <p:cNvPr id="19" name="label-out"/>
          <p:cNvSpPr txBox="1"/>
          <p:nvPr/>
        </p:nvSpPr>
        <p:spPr>
          <a:xfrm>
            <a:off x="9449775" y="4480560"/>
            <a:ext cx="228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出力：1人3枚</a:t>
            </a:r>
            <a:endParaRPr lang="ja-JP" altLang="en-US" sz="1800" dirty="0"/>
          </a:p>
        </p:txBody>
      </p:sp>
      <p:sp>
        <p:nvSpPr>
          <p:cNvPr id="20" name="message"/>
          <p:cNvSpPr txBox="1"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生成のあと、</a:t>
            </a:r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主催者が確認・修正してから印刷</a:t>
            </a:r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する</a:t>
            </a:r>
            <a:endParaRPr lang="ja-JP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4</a:t>
            </a:fld>
            <a:endParaRPr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20970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#おいとまの役割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おいとまは「言葉の処理」だけを担当する</a:t>
            </a:r>
            <a:endParaRPr lang="ja-JP" altLang="en-US" sz="3400" dirty="0"/>
          </a:p>
        </p:txBody>
      </p:sp>
      <p:sp>
        <p:nvSpPr>
          <p:cNvPr id="4" name="node-browser"/>
          <p:cNvSpPr txBox="1"/>
          <p:nvPr/>
        </p:nvSpPr>
        <p:spPr>
          <a:xfrm>
            <a:off x="640080" y="219456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主催者のブラウザ</a:t>
            </a:r>
            <a:endParaRPr lang="ja-JP" altLang="en-US" sz="2200" dirty="0"/>
          </a:p>
        </p:txBody>
      </p:sp>
      <p:sp>
        <p:nvSpPr>
          <p:cNvPr id="5" name="node-server"/>
          <p:cNvSpPr txBox="1"/>
          <p:nvPr/>
        </p:nvSpPr>
        <p:spPr>
          <a:xfrm>
            <a:off x="4609948" y="219456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Next.js サーバー</a:t>
            </a:r>
            <a:endParaRPr lang="ja-JP" altLang="en-US" sz="22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主催者のPC</a:t>
            </a:r>
            <a:endParaRPr lang="ja-JP" altLang="en-US" sz="2200" dirty="0"/>
          </a:p>
        </p:txBody>
      </p:sp>
      <p:sp>
        <p:nvSpPr>
          <p:cNvPr id="6" name="node-oitoma"/>
          <p:cNvSpPr txBox="1"/>
          <p:nvPr/>
        </p:nvSpPr>
        <p:spPr>
          <a:xfrm>
            <a:off x="8579815" y="219456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</a:t>
            </a:r>
            <a:endParaRPr lang="ja-JP" altLang="en-US" sz="22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学内のLLM</a:t>
            </a:r>
            <a:endParaRPr lang="ja-JP" altLang="en-US" sz="2200" dirty="0"/>
          </a:p>
        </p:txBody>
      </p:sp>
      <p:cxnSp>
        <p:nvCxnSpPr>
          <p:cNvPr id="7" name="api-arrow-0"/>
          <p:cNvCxnSpPr>
            <a:stCxn id="4" idx="3"/>
            <a:endCxn id="5" idx="1"/>
          </p:cNvCxnSpPr>
          <p:nvPr/>
        </p:nvCxnSpPr>
        <p:spPr>
          <a:xfrm>
            <a:off x="3685032" y="2720340"/>
            <a:ext cx="851764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olid"/>
            <a:headEnd type="triangle"/>
            <a:tailEnd type="triangle"/>
          </a:ln>
        </p:spPr>
      </p:cxnSp>
      <p:sp>
        <p:nvSpPr>
          <p:cNvPr id="8" name="api-label-0"/>
          <p:cNvSpPr txBox="1"/>
          <p:nvPr/>
        </p:nvSpPr>
        <p:spPr>
          <a:xfrm>
            <a:off x="3013634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/api/llm/*</a:t>
            </a:r>
            <a:endParaRPr lang="ja-JP" altLang="en-US" sz="1600" dirty="0"/>
          </a:p>
        </p:txBody>
      </p:sp>
      <p:cxnSp>
        <p:nvCxnSpPr>
          <p:cNvPr id="9" name="api-arrow-1"/>
          <p:cNvCxnSpPr>
            <a:stCxn id="5" idx="3"/>
            <a:endCxn id="6" idx="1"/>
          </p:cNvCxnSpPr>
          <p:nvPr/>
        </p:nvCxnSpPr>
        <p:spPr>
          <a:xfrm>
            <a:off x="7654900" y="2720340"/>
            <a:ext cx="851764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olid"/>
            <a:headEnd type="triangle"/>
            <a:tailEnd type="triangle"/>
          </a:ln>
        </p:spPr>
      </p:cxnSp>
      <p:sp>
        <p:nvSpPr>
          <p:cNvPr id="10" name="api-label-1"/>
          <p:cNvSpPr txBox="1"/>
          <p:nvPr/>
        </p:nvSpPr>
        <p:spPr>
          <a:xfrm>
            <a:off x="6983501" y="179222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/chat/completions</a:t>
            </a:r>
            <a:endParaRPr lang="ja-JP" altLang="en-US" sz="1600" dirty="0"/>
          </a:p>
        </p:txBody>
      </p:sp>
      <p:sp>
        <p:nvSpPr>
          <p:cNvPr id="11" name="duty-card-1"/>
          <p:cNvSpPr/>
          <p:nvPr/>
        </p:nvSpPr>
        <p:spPr>
          <a:xfrm>
            <a:off x="640080" y="3474720"/>
            <a:ext cx="29718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uty-1"/>
          <p:cNvSpPr txBox="1"/>
          <p:nvPr/>
        </p:nvSpPr>
        <p:spPr>
          <a:xfrm>
            <a:off x="868680" y="34747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生成の指揮・再開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人数の計算・割り当て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結果をブラウザに保存</a:t>
            </a:r>
            <a:endParaRPr lang="ja-JP" altLang="en-US" sz="2000" dirty="0"/>
          </a:p>
        </p:txBody>
      </p:sp>
      <p:sp>
        <p:nvSpPr>
          <p:cNvPr id="13" name="duty-card-2"/>
          <p:cNvSpPr/>
          <p:nvPr/>
        </p:nvSpPr>
        <p:spPr>
          <a:xfrm>
            <a:off x="4609948" y="3474720"/>
            <a:ext cx="297180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uty-2"/>
          <p:cNvSpPr txBox="1"/>
          <p:nvPr/>
        </p:nvSpPr>
        <p:spPr>
          <a:xfrm>
            <a:off x="4838548" y="34747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APIキーを保持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指示文を組み立て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JSONを検証・再試行</a:t>
            </a:r>
            <a:endParaRPr lang="ja-JP" altLang="en-US" sz="2000" dirty="0"/>
          </a:p>
        </p:txBody>
      </p:sp>
      <p:sp>
        <p:nvSpPr>
          <p:cNvPr id="15" name="duty-card-3"/>
          <p:cNvSpPr/>
          <p:nvPr/>
        </p:nvSpPr>
        <p:spPr>
          <a:xfrm>
            <a:off x="8579815" y="3474720"/>
            <a:ext cx="2971800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duty-3"/>
          <p:cNvSpPr txBox="1"/>
          <p:nvPr/>
        </p:nvSpPr>
        <p:spPr>
          <a:xfrm>
            <a:off x="8808415" y="34747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話題の読み取り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共有タグへの言い換え</a:t>
            </a:r>
            <a:endParaRPr lang="ja-JP" alt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当てはまりの判断</a:t>
            </a:r>
            <a:endParaRPr lang="ja-JP" altLang="en-US" sz="2000" dirty="0"/>
          </a:p>
        </p:txBody>
      </p:sp>
      <p:sp>
        <p:nvSpPr>
          <p:cNvPr id="17" name="message"/>
          <p:cNvSpPr txBox="1"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意味の判断は</a:t>
            </a:r>
            <a:pPr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</a:t>
            </a:r>
            <a:pPr indent="0" marL="0">
              <a:buNone/>
            </a:pPr>
            <a:r>
              <a:rPr lang="ja-JP" altLang="en-US" sz="2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、数の計算と保存は</a:t>
            </a:r>
            <a:pPr indent="0" marL="0">
              <a:buNone/>
            </a:pPr>
            <a:r>
              <a:rPr lang="ja-JP" altLang="en-US" sz="2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</a:t>
            </a:r>
            <a:endParaRPr lang="ja-JP" alt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5</a:t>
            </a:fld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25034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#呼び出すタイミング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おいとまを呼ぶのは、生成・確認・当日追加の3場面</a:t>
            </a:r>
            <a:endParaRPr lang="ja-JP" altLang="en-US" sz="3400" dirty="0"/>
          </a:p>
        </p:txBody>
      </p:sp>
      <p:sp>
        <p:nvSpPr>
          <p:cNvPr id="4" name="timeline"/>
          <p:cNvSpPr/>
          <p:nvPr/>
        </p:nvSpPr>
        <p:spPr>
          <a:xfrm>
            <a:off x="822960" y="2377440"/>
            <a:ext cx="1054577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timeline-dot-1"/>
          <p:cNvSpPr/>
          <p:nvPr/>
        </p:nvSpPr>
        <p:spPr>
          <a:xfrm>
            <a:off x="2212848" y="22585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when-1"/>
          <p:cNvSpPr txBox="1"/>
          <p:nvPr/>
        </p:nvSpPr>
        <p:spPr>
          <a:xfrm>
            <a:off x="640080" y="1901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事前</a:t>
            </a:r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生成画面</a:t>
            </a:r>
            <a:endParaRPr lang="ja-JP" altLang="en-US" sz="1800" dirty="0"/>
          </a:p>
        </p:txBody>
      </p:sp>
      <p:sp>
        <p:nvSpPr>
          <p:cNvPr id="7" name="scene-card-1"/>
          <p:cNvSpPr/>
          <p:nvPr/>
        </p:nvSpPr>
        <p:spPr>
          <a:xfrm>
            <a:off x="640080" y="2724912"/>
            <a:ext cx="33832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utton-1"/>
          <p:cNvSpPr txBox="1"/>
          <p:nvPr/>
        </p:nvSpPr>
        <p:spPr>
          <a:xfrm>
            <a:off x="777240" y="2926080"/>
            <a:ext cx="310896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タグをまとめて作る</a:t>
            </a:r>
            <a:endParaRPr lang="ja-JP" altLang="en-US" sz="1600" dirty="0"/>
          </a:p>
        </p:txBody>
      </p:sp>
      <p:cxnSp>
        <p:nvCxnSpPr>
          <p:cNvPr id="9" name="scene-arrow-1"/>
          <p:cNvCxnSpPr>
            <a:stCxn id="8" idx="2"/>
            <a:endCxn id="10" idx="0"/>
          </p:cNvCxnSpPr>
          <p:nvPr/>
        </p:nvCxnSpPr>
        <p:spPr>
          <a:xfrm>
            <a:off x="2331720" y="3547872"/>
            <a:ext cx="0" cy="384048"/>
          </a:xfrm>
          <a:prstGeom prst="straightConnector1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cxnSp>
      <p:sp>
        <p:nvSpPr>
          <p:cNvPr id="10" name="call-1"/>
          <p:cNvSpPr txBox="1"/>
          <p:nvPr/>
        </p:nvSpPr>
        <p:spPr>
          <a:xfrm>
            <a:off x="777240" y="4005072"/>
            <a:ext cx="31089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話題・候補・順位・まとめ</a:t>
            </a:r>
            <a:endParaRPr lang="ja-JP" altLang="en-US" sz="1800" dirty="0"/>
          </a:p>
        </p:txBody>
      </p:sp>
      <p:sp>
        <p:nvSpPr>
          <p:cNvPr id="11" name="result-1"/>
          <p:cNvSpPr txBox="1"/>
          <p:nvPr/>
        </p:nvSpPr>
        <p:spPr>
          <a:xfrm>
            <a:off x="822960" y="4828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全員分のタグができる</a:t>
            </a:r>
            <a:endParaRPr lang="ja-JP" altLang="en-US" sz="1800" dirty="0"/>
          </a:p>
        </p:txBody>
      </p:sp>
      <p:sp>
        <p:nvSpPr>
          <p:cNvPr id="12" name="timeline-dot-2"/>
          <p:cNvSpPr/>
          <p:nvPr/>
        </p:nvSpPr>
        <p:spPr>
          <a:xfrm>
            <a:off x="5976976" y="22585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when-2"/>
          <p:cNvSpPr txBox="1"/>
          <p:nvPr/>
        </p:nvSpPr>
        <p:spPr>
          <a:xfrm>
            <a:off x="4404208" y="1901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</a:t>
            </a:r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確認・修正画面</a:t>
            </a:r>
            <a:endParaRPr lang="ja-JP" altLang="en-US" sz="1800" dirty="0"/>
          </a:p>
        </p:txBody>
      </p:sp>
      <p:sp>
        <p:nvSpPr>
          <p:cNvPr id="14" name="scene-card-2"/>
          <p:cNvSpPr/>
          <p:nvPr/>
        </p:nvSpPr>
        <p:spPr>
          <a:xfrm>
            <a:off x="4404208" y="2724912"/>
            <a:ext cx="33832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utton-2"/>
          <p:cNvSpPr txBox="1"/>
          <p:nvPr/>
        </p:nvSpPr>
        <p:spPr>
          <a:xfrm>
            <a:off x="4541368" y="2926080"/>
            <a:ext cx="310896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おいとまに別案を出してもらう</a:t>
            </a:r>
            <a:endParaRPr lang="ja-JP" altLang="en-US" sz="1600" dirty="0"/>
          </a:p>
        </p:txBody>
      </p:sp>
      <p:cxnSp>
        <p:nvCxnSpPr>
          <p:cNvPr id="16" name="scene-arrow-2"/>
          <p:cNvCxnSpPr>
            <a:stCxn id="15" idx="2"/>
            <a:endCxn id="17" idx="0"/>
          </p:cNvCxnSpPr>
          <p:nvPr/>
        </p:nvCxnSpPr>
        <p:spPr>
          <a:xfrm>
            <a:off x="6095848" y="3547872"/>
            <a:ext cx="0" cy="384048"/>
          </a:xfrm>
          <a:prstGeom prst="straightConnector1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cxnSp>
      <p:sp>
        <p:nvSpPr>
          <p:cNvPr id="17" name="call-2"/>
          <p:cNvSpPr txBox="1"/>
          <p:nvPr/>
        </p:nvSpPr>
        <p:spPr>
          <a:xfrm>
            <a:off x="4541368" y="4005072"/>
            <a:ext cx="31089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個性タグの別案を3つ</a:t>
            </a:r>
            <a:endParaRPr lang="ja-JP" altLang="en-US" sz="1800" dirty="0"/>
          </a:p>
        </p:txBody>
      </p:sp>
      <p:sp>
        <p:nvSpPr>
          <p:cNvPr id="18" name="result-2"/>
          <p:cNvSpPr txBox="1"/>
          <p:nvPr/>
        </p:nvSpPr>
        <p:spPr>
          <a:xfrm>
            <a:off x="4587088" y="4828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候補に追加する</a:t>
            </a:r>
            <a:endParaRPr lang="ja-JP" altLang="en-US" sz="1800" dirty="0"/>
          </a:p>
        </p:txBody>
      </p:sp>
      <p:sp>
        <p:nvSpPr>
          <p:cNvPr id="19" name="timeline-dot-3"/>
          <p:cNvSpPr/>
          <p:nvPr/>
        </p:nvSpPr>
        <p:spPr>
          <a:xfrm>
            <a:off x="9741103" y="2258568"/>
            <a:ext cx="237744" cy="237744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when-3"/>
          <p:cNvSpPr txBox="1"/>
          <p:nvPr/>
        </p:nvSpPr>
        <p:spPr>
          <a:xfrm>
            <a:off x="8168335" y="1901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当日</a:t>
            </a:r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取り込み画面</a:t>
            </a:r>
            <a:endParaRPr lang="ja-JP" altLang="en-US" sz="1800" dirty="0"/>
          </a:p>
        </p:txBody>
      </p:sp>
      <p:sp>
        <p:nvSpPr>
          <p:cNvPr id="21" name="scene-card-3"/>
          <p:cNvSpPr/>
          <p:nvPr/>
        </p:nvSpPr>
        <p:spPr>
          <a:xfrm>
            <a:off x="8168335" y="2724912"/>
            <a:ext cx="338328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utton-3"/>
          <p:cNvSpPr txBox="1"/>
          <p:nvPr/>
        </p:nvSpPr>
        <p:spPr>
          <a:xfrm>
            <a:off x="8305495" y="2926080"/>
            <a:ext cx="310896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追加してタグを作る</a:t>
            </a:r>
            <a:endParaRPr lang="ja-JP" altLang="en-US" sz="1600" dirty="0"/>
          </a:p>
        </p:txBody>
      </p:sp>
      <p:cxnSp>
        <p:nvCxnSpPr>
          <p:cNvPr id="23" name="scene-arrow-3"/>
          <p:cNvCxnSpPr>
            <a:stCxn id="22" idx="2"/>
            <a:endCxn id="24" idx="0"/>
          </p:cNvCxnSpPr>
          <p:nvPr/>
        </p:nvCxnSpPr>
        <p:spPr>
          <a:xfrm>
            <a:off x="9859975" y="3547872"/>
            <a:ext cx="0" cy="384048"/>
          </a:xfrm>
          <a:prstGeom prst="straightConnector1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cxnSp>
      <p:sp>
        <p:nvSpPr>
          <p:cNvPr id="24" name="call-3"/>
          <p:cNvSpPr txBox="1"/>
          <p:nvPr/>
        </p:nvSpPr>
        <p:spPr>
          <a:xfrm>
            <a:off x="8305495" y="4005072"/>
            <a:ext cx="310896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その1人だけ抽出・順位</a:t>
            </a:r>
            <a:endParaRPr lang="ja-JP" altLang="en-US" sz="1800" dirty="0"/>
          </a:p>
        </p:txBody>
      </p:sp>
      <p:sp>
        <p:nvSpPr>
          <p:cNvPr id="25" name="result-3"/>
          <p:cNvSpPr txBox="1"/>
          <p:nvPr/>
        </p:nvSpPr>
        <p:spPr>
          <a:xfrm>
            <a:off x="8351215" y="48280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他の人のタグは変えない</a:t>
            </a:r>
            <a:endParaRPr lang="ja-JP" altLang="en-US" sz="1800" dirty="0"/>
          </a:p>
        </p:txBody>
      </p:sp>
      <p:sp>
        <p:nvSpPr>
          <p:cNvPr id="26" name="message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保存済みの結果を開く・印刷するときは呼ばない</a:t>
            </a:r>
            <a:endParaRPr lang="ja-JP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6</a:t>
            </a:fld>
            <a:endParaRPr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6906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#主要な処理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生成は5段階：言葉はおいとま、割り当てはコード</a:t>
            </a:r>
            <a:endParaRPr lang="ja-JP" altLang="en-US" sz="3400" dirty="0"/>
          </a:p>
        </p:txBody>
      </p:sp>
      <p:sp>
        <p:nvSpPr>
          <p:cNvPr id="4" name="stage-1"/>
          <p:cNvSpPr txBox="1"/>
          <p:nvPr/>
        </p:nvSpPr>
        <p:spPr>
          <a:xfrm>
            <a:off x="640080" y="2103120"/>
            <a:ext cx="1933590" cy="1965960"/>
          </a:xfrm>
          <a:prstGeom prst="roundRect">
            <a:avLst>
              <a:gd name="adj" fmla="val 567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話題の読み取り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extract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8人ずつ</a:t>
            </a:r>
            <a:endParaRPr lang="ja-JP" altLang="en-US" sz="2200" dirty="0"/>
          </a:p>
        </p:txBody>
      </p:sp>
      <p:cxnSp>
        <p:nvCxnSpPr>
          <p:cNvPr id="5" name="stage-arrow-1"/>
          <p:cNvCxnSpPr>
            <a:stCxn id="4" idx="3"/>
            <a:endCxn id="6" idx="1"/>
          </p:cNvCxnSpPr>
          <p:nvPr/>
        </p:nvCxnSpPr>
        <p:spPr>
          <a:xfrm>
            <a:off x="2619390" y="30861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6" name="stage-2"/>
          <p:cNvSpPr txBox="1"/>
          <p:nvPr/>
        </p:nvSpPr>
        <p:spPr>
          <a:xfrm>
            <a:off x="2884566" y="2103120"/>
            <a:ext cx="1933590" cy="1965960"/>
          </a:xfrm>
          <a:prstGeom prst="roundRect">
            <a:avLst>
              <a:gd name="adj" fmla="val 567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共有タグ候補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catalog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全員で1回</a:t>
            </a:r>
            <a:endParaRPr lang="ja-JP" altLang="en-US" sz="2200" dirty="0"/>
          </a:p>
        </p:txBody>
      </p:sp>
      <p:cxnSp>
        <p:nvCxnSpPr>
          <p:cNvPr id="7" name="stage-arrow-2"/>
          <p:cNvCxnSpPr>
            <a:stCxn id="6" idx="3"/>
            <a:endCxn id="8" idx="1"/>
          </p:cNvCxnSpPr>
          <p:nvPr/>
        </p:nvCxnSpPr>
        <p:spPr>
          <a:xfrm>
            <a:off x="4863876" y="30861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8" name="stage-3"/>
          <p:cNvSpPr txBox="1"/>
          <p:nvPr/>
        </p:nvSpPr>
        <p:spPr>
          <a:xfrm>
            <a:off x="5129052" y="2103120"/>
            <a:ext cx="1933590" cy="1965960"/>
          </a:xfrm>
          <a:prstGeom prst="roundRect">
            <a:avLst>
              <a:gd name="adj" fmla="val 567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当てはまり順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rank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15人ずつ</a:t>
            </a:r>
            <a:endParaRPr lang="ja-JP" altLang="en-US" sz="2200" dirty="0"/>
          </a:p>
        </p:txBody>
      </p:sp>
      <p:cxnSp>
        <p:nvCxnSpPr>
          <p:cNvPr id="9" name="stage-arrow-3"/>
          <p:cNvCxnSpPr>
            <a:stCxn id="8" idx="3"/>
            <a:endCxn id="10" idx="1"/>
          </p:cNvCxnSpPr>
          <p:nvPr/>
        </p:nvCxnSpPr>
        <p:spPr>
          <a:xfrm>
            <a:off x="7108363" y="30861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0" name="stage-4"/>
          <p:cNvSpPr txBox="1"/>
          <p:nvPr/>
        </p:nvSpPr>
        <p:spPr>
          <a:xfrm>
            <a:off x="7373539" y="2103120"/>
            <a:ext cx="1933590" cy="1965960"/>
          </a:xfrm>
          <a:prstGeom prst="roundRect">
            <a:avLst>
              <a:gd name="adj" fmla="val 5675"/>
            </a:avLst>
          </a:prstGeom>
          <a:solidFill>
            <a:schemeClr val="accent5"/>
          </a:solidFill>
          <a:ln w="381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割り当て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assign.ts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人数を調整</a:t>
            </a:r>
            <a:endParaRPr lang="ja-JP" altLang="en-US" sz="2200" dirty="0"/>
          </a:p>
        </p:txBody>
      </p:sp>
      <p:cxnSp>
        <p:nvCxnSpPr>
          <p:cNvPr id="11" name="stage-arrow-4"/>
          <p:cNvCxnSpPr>
            <a:stCxn id="10" idx="3"/>
            <a:endCxn id="12" idx="1"/>
          </p:cNvCxnSpPr>
          <p:nvPr/>
        </p:nvCxnSpPr>
        <p:spPr>
          <a:xfrm>
            <a:off x="9352849" y="3086100"/>
            <a:ext cx="219456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cxnSp>
      <p:sp>
        <p:nvSpPr>
          <p:cNvPr id="12" name="stage-5"/>
          <p:cNvSpPr txBox="1"/>
          <p:nvPr/>
        </p:nvSpPr>
        <p:spPr>
          <a:xfrm>
            <a:off x="9618025" y="2103120"/>
            <a:ext cx="1933590" cy="1965960"/>
          </a:xfrm>
          <a:prstGeom prst="roundRect">
            <a:avLst>
              <a:gd name="adj" fmla="val 567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会場のまとめ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summary</a:t>
            </a:r>
            <a:endParaRPr lang="ja-JP" altLang="en-US" sz="2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ja-JP" altLang="en-US" sz="16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失敗しても続行</a:t>
            </a:r>
            <a:endParaRPr lang="ja-JP" altLang="en-US" sz="2200" dirty="0"/>
          </a:p>
        </p:txBody>
      </p:sp>
      <p:sp>
        <p:nvSpPr>
          <p:cNvPr id="13" name="retry-down"/>
          <p:cNvSpPr/>
          <p:nvPr/>
        </p:nvSpPr>
        <p:spPr>
          <a:xfrm>
            <a:off x="8340334" y="4105656"/>
            <a:ext cx="0" cy="37490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4" name="retry-left"/>
          <p:cNvSpPr/>
          <p:nvPr/>
        </p:nvSpPr>
        <p:spPr>
          <a:xfrm>
            <a:off x="6095848" y="4480560"/>
            <a:ext cx="2244486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5" name="retry-up"/>
          <p:cNvSpPr/>
          <p:nvPr/>
        </p:nvSpPr>
        <p:spPr>
          <a:xfrm flipV="1">
            <a:off x="6095848" y="4123944"/>
            <a:ext cx="0" cy="356616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retry-label"/>
          <p:cNvSpPr txBox="1"/>
          <p:nvPr/>
        </p:nvSpPr>
        <p:spPr>
          <a:xfrm>
            <a:off x="4632808" y="4553712"/>
            <a:ext cx="5170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2つ持てない人だけ、③をやり直す</a:t>
            </a:r>
            <a:endParaRPr lang="ja-JP" altLang="en-US" sz="1800" dirty="0"/>
          </a:p>
        </p:txBody>
      </p:sp>
      <p:sp>
        <p:nvSpPr>
          <p:cNvPr id="17" name="legend-oitoma"/>
          <p:cNvSpPr/>
          <p:nvPr/>
        </p:nvSpPr>
        <p:spPr>
          <a:xfrm>
            <a:off x="640080" y="5495544"/>
            <a:ext cx="384048" cy="292608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legend-oitoma-label"/>
          <p:cNvSpPr txBox="1"/>
          <p:nvPr/>
        </p:nvSpPr>
        <p:spPr>
          <a:xfrm>
            <a:off x="114300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おいとま（言葉の処理）</a:t>
            </a:r>
            <a:endParaRPr lang="ja-JP" altLang="en-US" sz="2000" dirty="0"/>
          </a:p>
        </p:txBody>
      </p:sp>
      <p:sp>
        <p:nvSpPr>
          <p:cNvPr id="19" name="legend-code"/>
          <p:cNvSpPr/>
          <p:nvPr/>
        </p:nvSpPr>
        <p:spPr>
          <a:xfrm>
            <a:off x="4846320" y="5495544"/>
            <a:ext cx="384048" cy="292608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20" name="legend-code-label"/>
          <p:cNvSpPr txBox="1"/>
          <p:nvPr/>
        </p:nvSpPr>
        <p:spPr>
          <a:xfrm>
            <a:off x="534924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コード（数の処理）</a:t>
            </a:r>
            <a:endParaRPr lang="ja-JP" alt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7</a:t>
            </a:fld>
            <a:endParaRPr lang="ja-JP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8938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#技術的な工夫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割り当てはAIに任せず、コードで人数を守る</a:t>
            </a:r>
            <a:endParaRPr lang="ja-JP" altLang="en-US" sz="3400" dirty="0"/>
          </a:p>
        </p:txBody>
      </p:sp>
      <p:sp>
        <p:nvSpPr>
          <p:cNvPr id="4" name="col-a-head"/>
          <p:cNvSpPr txBox="1"/>
          <p:nvPr/>
        </p:nvSpPr>
        <p:spPr>
          <a:xfrm>
            <a:off x="2834640" y="1965960"/>
            <a:ext cx="41605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比較案（未実装）</a:t>
            </a:r>
            <a:endParaRPr lang="ja-JP" altLang="en-US" sz="1600" dirty="0"/>
          </a:p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AIに全部任せる</a:t>
            </a:r>
            <a:endParaRPr lang="ja-JP" altLang="en-US" sz="16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AIが全員分の割り当てまで出力</a:t>
            </a:r>
            <a:endParaRPr lang="ja-JP" altLang="en-US" sz="1600" dirty="0"/>
          </a:p>
        </p:txBody>
      </p:sp>
      <p:sp>
        <p:nvSpPr>
          <p:cNvPr id="5" name="col-b-head"/>
          <p:cNvSpPr txBox="1"/>
          <p:nvPr/>
        </p:nvSpPr>
        <p:spPr>
          <a:xfrm>
            <a:off x="7223760" y="1965960"/>
            <a:ext cx="416052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 w="28575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採用</a:t>
            </a:r>
            <a:endParaRPr lang="ja-JP" altLang="en-US" sz="1600" dirty="0"/>
          </a:p>
          <a:p>
            <a:pPr algn="ctr"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AIとコードで分担</a:t>
            </a:r>
            <a:endParaRPr lang="ja-JP" altLang="en-US" sz="16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AIは候補と順位、割り当てはコード</a:t>
            </a:r>
            <a:endParaRPr lang="ja-JP" altLang="en-US" sz="1600" dirty="0"/>
          </a:p>
        </p:txBody>
      </p:sp>
      <p:sp>
        <p:nvSpPr>
          <p:cNvPr id="6" name="row-1-label"/>
          <p:cNvSpPr txBox="1"/>
          <p:nvPr/>
        </p:nvSpPr>
        <p:spPr>
          <a:xfrm>
            <a:off x="640080" y="33375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出力</a:t>
            </a:r>
            <a:endParaRPr lang="ja-JP" altLang="en-US" sz="2000" dirty="0"/>
          </a:p>
        </p:txBody>
      </p:sp>
      <p:sp>
        <p:nvSpPr>
          <p:cNvPr id="7" name="row-1-a"/>
          <p:cNvSpPr txBox="1"/>
          <p:nvPr/>
        </p:nvSpPr>
        <p:spPr>
          <a:xfrm>
            <a:off x="2834640" y="33375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全員分を一度に</a:t>
            </a:r>
            <a:endParaRPr lang="ja-JP" altLang="en-US" sz="2200" dirty="0"/>
          </a:p>
        </p:txBody>
      </p:sp>
      <p:sp>
        <p:nvSpPr>
          <p:cNvPr id="8" name="row-1-b"/>
          <p:cNvSpPr txBox="1"/>
          <p:nvPr/>
        </p:nvSpPr>
        <p:spPr>
          <a:xfrm>
            <a:off x="7223760" y="33375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数人分ずつ短く</a:t>
            </a:r>
            <a:endParaRPr lang="ja-JP" altLang="en-US" sz="2200" dirty="0"/>
          </a:p>
        </p:txBody>
      </p:sp>
      <p:sp>
        <p:nvSpPr>
          <p:cNvPr id="9" name="row-rule-1"/>
          <p:cNvSpPr/>
          <p:nvPr/>
        </p:nvSpPr>
        <p:spPr>
          <a:xfrm>
            <a:off x="640080" y="3995928"/>
            <a:ext cx="10744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10" name="row-2-label"/>
          <p:cNvSpPr txBox="1"/>
          <p:nvPr/>
        </p:nvSpPr>
        <p:spPr>
          <a:xfrm>
            <a:off x="640080" y="40142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人数の下限</a:t>
            </a:r>
            <a:endParaRPr lang="ja-JP" altLang="en-US" sz="2000" dirty="0"/>
          </a:p>
        </p:txBody>
      </p:sp>
      <p:sp>
        <p:nvSpPr>
          <p:cNvPr id="11" name="row-2-a"/>
          <p:cNvSpPr txBox="1"/>
          <p:nvPr/>
        </p:nvSpPr>
        <p:spPr>
          <a:xfrm>
            <a:off x="2834640" y="401421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守れたか分からない</a:t>
            </a:r>
            <a:endParaRPr lang="ja-JP" altLang="en-US" sz="2200" dirty="0"/>
          </a:p>
        </p:txBody>
      </p:sp>
      <p:sp>
        <p:nvSpPr>
          <p:cNvPr id="12" name="row-2-b"/>
          <p:cNvSpPr txBox="1"/>
          <p:nvPr/>
        </p:nvSpPr>
        <p:spPr>
          <a:xfrm>
            <a:off x="7223760" y="4014216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コードが守る</a:t>
            </a:r>
            <a:endParaRPr lang="ja-JP" altLang="en-US" sz="2200" dirty="0"/>
          </a:p>
        </p:txBody>
      </p:sp>
      <p:sp>
        <p:nvSpPr>
          <p:cNvPr id="13" name="row-rule-2"/>
          <p:cNvSpPr/>
          <p:nvPr/>
        </p:nvSpPr>
        <p:spPr>
          <a:xfrm>
            <a:off x="640080" y="4672584"/>
            <a:ext cx="10744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14" name="row-3-label"/>
          <p:cNvSpPr txBox="1"/>
          <p:nvPr/>
        </p:nvSpPr>
        <p:spPr>
          <a:xfrm>
            <a:off x="640080" y="46908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失敗時</a:t>
            </a:r>
            <a:endParaRPr lang="ja-JP" altLang="en-US" sz="2000" dirty="0"/>
          </a:p>
        </p:txBody>
      </p:sp>
      <p:sp>
        <p:nvSpPr>
          <p:cNvPr id="15" name="row-3-a"/>
          <p:cNvSpPr txBox="1"/>
          <p:nvPr/>
        </p:nvSpPr>
        <p:spPr>
          <a:xfrm>
            <a:off x="2834640" y="469087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全体をやり直し</a:t>
            </a:r>
            <a:endParaRPr lang="ja-JP" altLang="en-US" sz="2200" dirty="0"/>
          </a:p>
        </p:txBody>
      </p:sp>
      <p:sp>
        <p:nvSpPr>
          <p:cNvPr id="16" name="row-3-b"/>
          <p:cNvSpPr txBox="1"/>
          <p:nvPr/>
        </p:nvSpPr>
        <p:spPr>
          <a:xfrm>
            <a:off x="7223760" y="469087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その分だけ再試行</a:t>
            </a:r>
            <a:endParaRPr lang="ja-JP" altLang="en-US" sz="2200" dirty="0"/>
          </a:p>
        </p:txBody>
      </p:sp>
      <p:sp>
        <p:nvSpPr>
          <p:cNvPr id="17" name="message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数の制約は、</a:t>
            </a:r>
            <a:pPr indent="0" marL="0">
              <a:buNone/>
            </a:pPr>
            <a:r>
              <a:rPr lang="ja-JP" altLang="en-US" sz="24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テストで確かめられるコード</a:t>
            </a:r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で守る</a:t>
            </a:r>
            <a:endParaRPr lang="ja-JP" alt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8</a:t>
            </a:fld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25034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#おいとまを使う意義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学内AIだから、個人情報をセキュアにAI処理できる</a:t>
            </a:r>
            <a:endParaRPr lang="ja-JP" altLang="en-US" sz="3400" dirty="0"/>
          </a:p>
        </p:txBody>
      </p:sp>
      <p:sp>
        <p:nvSpPr>
          <p:cNvPr id="4" name="statement"/>
          <p:cNvSpPr txBox="1"/>
          <p:nvPr/>
        </p:nvSpPr>
        <p:spPr>
          <a:xfrm>
            <a:off x="640080" y="196596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参加者の自己紹介を、</a:t>
            </a:r>
            <a:endParaRPr lang="ja-JP" alt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28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学外のAI事業者に渡さず</a:t>
            </a:r>
            <a:pPr indent="0" marL="0">
              <a:lnSpc>
                <a:spcPct val="115000"/>
              </a:lnSpc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AI処理</a:t>
            </a:r>
            <a:endParaRPr lang="ja-JP" altLang="en-US" sz="2800" dirty="0"/>
          </a:p>
        </p:txBody>
      </p:sp>
      <p:sp>
        <p:nvSpPr>
          <p:cNvPr id="5" name="basis-dot-1"/>
          <p:cNvSpPr/>
          <p:nvPr/>
        </p:nvSpPr>
        <p:spPr>
          <a:xfrm>
            <a:off x="640080" y="3685032"/>
            <a:ext cx="219456" cy="2194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asis-1"/>
          <p:cNvSpPr txBox="1"/>
          <p:nvPr/>
        </p:nvSpPr>
        <p:spPr>
          <a:xfrm>
            <a:off x="1051560" y="3566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名前は送らず、IDで処理</a:t>
            </a:r>
            <a:endParaRPr lang="ja-JP" altLang="en-US" sz="2400" dirty="0"/>
          </a:p>
        </p:txBody>
      </p:sp>
      <p:sp>
        <p:nvSpPr>
          <p:cNvPr id="7" name="basis-dot-2"/>
          <p:cNvSpPr/>
          <p:nvPr/>
        </p:nvSpPr>
        <p:spPr>
          <a:xfrm>
            <a:off x="640080" y="4343400"/>
            <a:ext cx="219456" cy="2194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basis-2"/>
          <p:cNvSpPr txBox="1"/>
          <p:nvPr/>
        </p:nvSpPr>
        <p:spPr>
          <a:xfrm>
            <a:off x="1051560" y="42245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同意なしの自己紹介は送らない</a:t>
            </a:r>
            <a:endParaRPr lang="ja-JP" altLang="en-US" sz="2400" dirty="0"/>
          </a:p>
        </p:txBody>
      </p:sp>
      <p:sp>
        <p:nvSpPr>
          <p:cNvPr id="9" name="basis-dot-3"/>
          <p:cNvSpPr/>
          <p:nvPr/>
        </p:nvSpPr>
        <p:spPr>
          <a:xfrm>
            <a:off x="640080" y="5001768"/>
            <a:ext cx="219456" cy="21945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sis-3"/>
          <p:cNvSpPr txBox="1"/>
          <p:nvPr/>
        </p:nvSpPr>
        <p:spPr>
          <a:xfrm>
            <a:off x="1051560" y="48828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サーバーに保存しない</a:t>
            </a:r>
            <a:endParaRPr lang="ja-JP" altLang="en-US" sz="2400" dirty="0"/>
          </a:p>
        </p:txBody>
      </p:sp>
      <p:sp>
        <p:nvSpPr>
          <p:cNvPr id="11" name="campus-boundary"/>
          <p:cNvSpPr/>
          <p:nvPr/>
        </p:nvSpPr>
        <p:spPr>
          <a:xfrm>
            <a:off x="7086600" y="1965960"/>
            <a:ext cx="4462272" cy="2651760"/>
          </a:xfrm>
          <a:prstGeom prst="roundRect">
            <a:avLst>
              <a:gd name="adj" fmla="val 5172"/>
            </a:avLst>
          </a:prstGeom>
          <a:solidFill>
            <a:schemeClr val="accent4"/>
          </a:solidFill>
          <a:ln w="22225">
            <a:solidFill>
              <a:schemeClr val="tx2"/>
            </a:solidFill>
            <a:prstDash val="dash"/>
          </a:ln>
        </p:spPr>
      </p:sp>
      <p:sp>
        <p:nvSpPr>
          <p:cNvPr id="12" name="campus-label"/>
          <p:cNvSpPr txBox="1"/>
          <p:nvPr/>
        </p:nvSpPr>
        <p:spPr>
          <a:xfrm>
            <a:off x="7315200" y="210312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学内ネットワーク／OU-VPN</a:t>
            </a:r>
            <a:endParaRPr lang="ja-JP" altLang="en-US" sz="1800" dirty="0"/>
          </a:p>
        </p:txBody>
      </p:sp>
      <p:sp>
        <p:nvSpPr>
          <p:cNvPr id="13" name="campus-pc"/>
          <p:cNvSpPr txBox="1"/>
          <p:nvPr/>
        </p:nvSpPr>
        <p:spPr>
          <a:xfrm>
            <a:off x="7360920" y="2743200"/>
            <a:ext cx="1508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主催者の</a:t>
            </a:r>
            <a:endParaRPr lang="ja-JP" altLang="en-US" sz="1800" dirty="0"/>
          </a:p>
          <a:p>
            <a:pPr algn="ctr"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PC</a:t>
            </a:r>
            <a:endParaRPr lang="ja-JP" altLang="en-US" sz="1800" dirty="0"/>
          </a:p>
        </p:txBody>
      </p:sp>
      <p:sp>
        <p:nvSpPr>
          <p:cNvPr id="14" name="campus-oitoma"/>
          <p:cNvSpPr txBox="1"/>
          <p:nvPr/>
        </p:nvSpPr>
        <p:spPr>
          <a:xfrm>
            <a:off x="9308592" y="2743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</a:t>
            </a:r>
            <a:endParaRPr lang="ja-JP" altLang="en-US" sz="2000" dirty="0"/>
          </a:p>
          <a:p>
            <a:pPr algn="ctr" indent="0" marL="0">
              <a:buNone/>
            </a:pPr>
            <a:r>
              <a:rPr lang="ja-JP" altLang="en-US" sz="1500" dirty="0">
                <a:solidFill>
                  <a:schemeClr val="accent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再学習に使わない※</a:t>
            </a:r>
            <a:endParaRPr lang="ja-JP" altLang="en-US" sz="2000" dirty="0"/>
          </a:p>
        </p:txBody>
      </p:sp>
      <p:cxnSp>
        <p:nvCxnSpPr>
          <p:cNvPr id="15" name="campus-arrow"/>
          <p:cNvCxnSpPr>
            <a:stCxn id="13" idx="3"/>
            <a:endCxn id="14" idx="1"/>
          </p:cNvCxnSpPr>
          <p:nvPr/>
        </p:nvCxnSpPr>
        <p:spPr>
          <a:xfrm>
            <a:off x="8942832" y="3474720"/>
            <a:ext cx="292608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cxnSp>
      <p:sp>
        <p:nvSpPr>
          <p:cNvPr id="16" name="external-ai"/>
          <p:cNvSpPr txBox="1"/>
          <p:nvPr/>
        </p:nvSpPr>
        <p:spPr>
          <a:xfrm>
            <a:off x="7360920" y="5120640"/>
            <a:ext cx="3913632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学外のAIサービス</a:t>
            </a:r>
            <a:endParaRPr lang="ja-JP" altLang="en-US" sz="1800" dirty="0"/>
          </a:p>
        </p:txBody>
      </p:sp>
      <p:sp>
        <p:nvSpPr>
          <p:cNvPr id="17" name="external-label"/>
          <p:cNvSpPr txBox="1"/>
          <p:nvPr/>
        </p:nvSpPr>
        <p:spPr>
          <a:xfrm>
            <a:off x="7360920" y="47274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8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回答を送らない</a:t>
            </a:r>
            <a:endParaRPr lang="ja-JP" altLang="en-US" sz="1800" dirty="0"/>
          </a:p>
        </p:txBody>
      </p:sp>
      <p:sp>
        <p:nvSpPr>
          <p:cNvPr id="18" name="footnote"/>
          <p:cNvSpPr txBox="1"/>
          <p:nvPr/>
        </p:nvSpPr>
        <p:spPr>
          <a:xfrm>
            <a:off x="640080" y="5989320"/>
            <a:ext cx="1027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仕様書の記載（根拠はおいとまマニュアル）。学外の端末から使う場合は付録A3</a:t>
            </a:r>
            <a:endParaRPr lang="ja-JP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9</a:t>
            </a:fld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1081024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#結果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取り込みから印刷まで、動作を確認した</a:t>
            </a:r>
            <a:endParaRPr lang="ja-JP" altLang="en-US" sz="3400" dirty="0"/>
          </a:p>
        </p:txBody>
      </p:sp>
      <p:sp>
        <p:nvSpPr>
          <p:cNvPr id="4" name="stat-card-1"/>
          <p:cNvSpPr/>
          <p:nvPr/>
        </p:nvSpPr>
        <p:spPr>
          <a:xfrm>
            <a:off x="640080" y="210312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-1"/>
          <p:cNvSpPr txBox="1"/>
          <p:nvPr/>
        </p:nvSpPr>
        <p:spPr>
          <a:xfrm>
            <a:off x="914400" y="2331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60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98/98</a:t>
            </a:r>
            <a:endParaRPr lang="ja-JP" altLang="en-US" sz="6000" dirty="0"/>
          </a:p>
        </p:txBody>
      </p:sp>
      <p:sp>
        <p:nvSpPr>
          <p:cNvPr id="6" name="stat-1-label"/>
          <p:cNvSpPr txBox="1"/>
          <p:nvPr/>
        </p:nvSpPr>
        <p:spPr>
          <a:xfrm>
            <a:off x="91440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自動テスト成功</a:t>
            </a:r>
            <a:endParaRPr lang="ja-JP" altLang="en-US" sz="2400" dirty="0"/>
          </a:p>
        </p:txBody>
      </p:sp>
      <p:sp>
        <p:nvSpPr>
          <p:cNvPr id="7" name="stat-1-sub"/>
          <p:cNvSpPr txBox="1"/>
          <p:nvPr/>
        </p:nvSpPr>
        <p:spPr>
          <a:xfrm>
            <a:off x="914400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17ファイル・10/15実行</a:t>
            </a:r>
            <a:endParaRPr lang="ja-JP" altLang="en-US" sz="1800" dirty="0"/>
          </a:p>
        </p:txBody>
      </p:sp>
      <p:sp>
        <p:nvSpPr>
          <p:cNvPr id="8" name="stat-card-2"/>
          <p:cNvSpPr/>
          <p:nvPr/>
        </p:nvSpPr>
        <p:spPr>
          <a:xfrm>
            <a:off x="4381348" y="210312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-2"/>
          <p:cNvSpPr txBox="1"/>
          <p:nvPr/>
        </p:nvSpPr>
        <p:spPr>
          <a:xfrm>
            <a:off x="4655668" y="2331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60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18/18</a:t>
            </a:r>
            <a:endParaRPr lang="ja-JP" altLang="en-US" sz="6000" dirty="0"/>
          </a:p>
        </p:txBody>
      </p:sp>
      <p:sp>
        <p:nvSpPr>
          <p:cNvPr id="10" name="stat-2-label"/>
          <p:cNvSpPr txBox="1"/>
          <p:nvPr/>
        </p:nvSpPr>
        <p:spPr>
          <a:xfrm>
            <a:off x="4655668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受け入れ確認</a:t>
            </a:r>
            <a:endParaRPr lang="ja-JP" altLang="en-US" sz="2400" dirty="0"/>
          </a:p>
        </p:txBody>
      </p:sp>
      <p:sp>
        <p:nvSpPr>
          <p:cNvPr id="11" name="stat-2-sub"/>
          <p:cNvSpPr txBox="1"/>
          <p:nvPr/>
        </p:nvSpPr>
        <p:spPr>
          <a:xfrm>
            <a:off x="4655668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基本9＋追加9・mock</a:t>
            </a:r>
            <a:endParaRPr lang="ja-JP" altLang="en-US" sz="1800" dirty="0"/>
          </a:p>
        </p:txBody>
      </p:sp>
      <p:sp>
        <p:nvSpPr>
          <p:cNvPr id="12" name="stat-card-3"/>
          <p:cNvSpPr/>
          <p:nvPr/>
        </p:nvSpPr>
        <p:spPr>
          <a:xfrm>
            <a:off x="8122615" y="210312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-3"/>
          <p:cNvSpPr txBox="1"/>
          <p:nvPr/>
        </p:nvSpPr>
        <p:spPr>
          <a:xfrm>
            <a:off x="8396935" y="2331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60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120枚</a:t>
            </a:r>
            <a:endParaRPr lang="ja-JP" altLang="en-US" sz="6000" dirty="0"/>
          </a:p>
        </p:txBody>
      </p:sp>
      <p:sp>
        <p:nvSpPr>
          <p:cNvPr id="14" name="stat-3-label"/>
          <p:cNvSpPr txBox="1"/>
          <p:nvPr/>
        </p:nvSpPr>
        <p:spPr>
          <a:xfrm>
            <a:off x="8396935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印刷PDFを検査</a:t>
            </a:r>
            <a:endParaRPr lang="ja-JP" altLang="en-US" sz="2400" dirty="0"/>
          </a:p>
        </p:txBody>
      </p:sp>
      <p:sp>
        <p:nvSpPr>
          <p:cNvPr id="15" name="stat-3-sub"/>
          <p:cNvSpPr txBox="1"/>
          <p:nvPr/>
        </p:nvSpPr>
        <p:spPr>
          <a:xfrm>
            <a:off x="8396935" y="3840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40人分・A4 5ページ</a:t>
            </a:r>
            <a:endParaRPr lang="ja-JP" altLang="en-US" sz="1800" dirty="0"/>
          </a:p>
        </p:txBody>
      </p:sp>
      <p:sp>
        <p:nvSpPr>
          <p:cNvPr id="16" name="live-note"/>
          <p:cNvSpPr txBox="1"/>
          <p:nvPr/>
        </p:nvSpPr>
        <p:spPr>
          <a:xfrm>
            <a:off x="640080" y="4892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本物のおいとま（live）</a:t>
            </a:r>
            <a:pPr indent="0" marL="0">
              <a:buNone/>
            </a:pPr>
            <a:r>
              <a:rPr lang="ja-JP" altLang="en-US" sz="24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の出力を見て、指示文を改善</a:t>
            </a:r>
            <a:endParaRPr lang="ja-JP" altLang="en-US" sz="2400" dirty="0"/>
          </a:p>
        </p:txBody>
      </p:sp>
      <p:sp>
        <p:nvSpPr>
          <p:cNvPr id="17" name="not-measured"/>
          <p:cNvSpPr txBox="1"/>
          <p:nvPr/>
        </p:nvSpPr>
        <p:spPr>
          <a:xfrm>
            <a:off x="640080" y="54864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未計測：会場での会話の効果、liveの所要時間</a:t>
            </a:r>
            <a:endParaRPr lang="ja-JP" alt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10</a:t>
            </a:fld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学内AIで、名札に「話題」を足す</a:t>
            </a:r>
            <a:endParaRPr lang="ja-JP" altLang="en-US" sz="4000" dirty="0"/>
          </a:p>
        </p:txBody>
      </p:sp>
      <p:sp>
        <p:nvSpPr>
          <p:cNvPr id="3" name="conclusion-no-1"/>
          <p:cNvSpPr txBox="1"/>
          <p:nvPr/>
        </p:nvSpPr>
        <p:spPr>
          <a:xfrm>
            <a:off x="640080" y="2331720"/>
            <a:ext cx="82296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altLang="en-US" sz="2800" dirty="0"/>
          </a:p>
        </p:txBody>
      </p:sp>
      <p:sp>
        <p:nvSpPr>
          <p:cNvPr id="4" name="conclusion-1"/>
          <p:cNvSpPr txBox="1"/>
          <p:nvPr/>
        </p:nvSpPr>
        <p:spPr>
          <a:xfrm>
            <a:off x="1783080" y="233172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言葉はおいとま、人数はコードで分担</a:t>
            </a:r>
            <a:endParaRPr lang="ja-JP" altLang="en-US" sz="3000" dirty="0"/>
          </a:p>
        </p:txBody>
      </p:sp>
      <p:sp>
        <p:nvSpPr>
          <p:cNvPr id="5" name="conclusion-no-2"/>
          <p:cNvSpPr txBox="1"/>
          <p:nvPr/>
        </p:nvSpPr>
        <p:spPr>
          <a:xfrm>
            <a:off x="640080" y="3429000"/>
            <a:ext cx="82296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altLang="en-US" sz="2800" dirty="0"/>
          </a:p>
        </p:txBody>
      </p:sp>
      <p:sp>
        <p:nvSpPr>
          <p:cNvPr id="6" name="conclusion-2"/>
          <p:cNvSpPr txBox="1"/>
          <p:nvPr/>
        </p:nvSpPr>
        <p:spPr>
          <a:xfrm>
            <a:off x="1783080" y="342900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Excelから印刷まで、1つの画面で完結</a:t>
            </a:r>
            <a:endParaRPr lang="ja-JP" altLang="en-US" sz="3000" dirty="0"/>
          </a:p>
        </p:txBody>
      </p:sp>
      <p:sp>
        <p:nvSpPr>
          <p:cNvPr id="7" name="conclusion-no-3"/>
          <p:cNvSpPr txBox="1"/>
          <p:nvPr/>
        </p:nvSpPr>
        <p:spPr>
          <a:xfrm>
            <a:off x="640080" y="4526280"/>
            <a:ext cx="822960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8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altLang="en-US" sz="2800" dirty="0"/>
          </a:p>
        </p:txBody>
      </p:sp>
      <p:sp>
        <p:nvSpPr>
          <p:cNvPr id="8" name="conclusion-3"/>
          <p:cNvSpPr txBox="1"/>
          <p:nvPr/>
        </p:nvSpPr>
        <p:spPr>
          <a:xfrm>
            <a:off x="1783080" y="452628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個人情報を、学内AIでセキュアに処理</a:t>
            </a:r>
            <a:endParaRPr lang="ja-JP" altLang="en-US" sz="3000" dirty="0"/>
          </a:p>
        </p:txBody>
      </p:sp>
      <p:sp>
        <p:nvSpPr>
          <p:cNvPr id="9" name="app-name"/>
          <p:cNvSpPr txBox="1"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#おいとま活用中</a:t>
            </a:r>
            <a:endParaRPr lang="ja-JP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11</a:t>
            </a:fld>
            <a:endParaRPr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3084576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#付録A1 割り当てのコード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下限に届かないタグを1つずつ外し、割り当て直す</a:t>
            </a:r>
            <a:endParaRPr lang="ja-JP" altLang="en-US" sz="3400" dirty="0"/>
          </a:p>
        </p:txBody>
      </p:sp>
      <p:sp>
        <p:nvSpPr>
          <p:cNvPr id="4" name="code-panel"/>
          <p:cNvSpPr/>
          <p:nvPr/>
        </p:nvSpPr>
        <p:spPr>
          <a:xfrm>
            <a:off x="640080" y="1920240"/>
            <a:ext cx="6400800" cy="3755136"/>
          </a:xfrm>
          <a:prstGeom prst="roundRect">
            <a:avLst>
              <a:gd name="adj" fmla="val 2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de-highlight-7"/>
          <p:cNvSpPr/>
          <p:nvPr/>
        </p:nvSpPr>
        <p:spPr>
          <a:xfrm>
            <a:off x="713232" y="3779520"/>
            <a:ext cx="6254496" cy="2976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ode-highlight-8"/>
          <p:cNvSpPr/>
          <p:nvPr/>
        </p:nvSpPr>
        <p:spPr>
          <a:xfrm>
            <a:off x="713232" y="4058920"/>
            <a:ext cx="6254496" cy="2976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ode-highlight-11"/>
          <p:cNvSpPr/>
          <p:nvPr/>
        </p:nvSpPr>
        <p:spPr>
          <a:xfrm>
            <a:off x="713232" y="4897120"/>
            <a:ext cx="6254496" cy="2976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822960" y="2121408"/>
            <a:ext cx="6126480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for (let iter = 0; iter &lt; candidateIds.length; iter += 1) {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pickTop2();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resolveOverflow();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counts = countHolders();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active = active.filter((id) =&gt; (counts.get(id) ?? 0) &gt; 0);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recount = countHolders();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below = active.filter(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  (id) =&gt; (recount.get(id) ?? 0) &lt; minSize);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if (below.length === 0) break;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let victim = below[0]; // …最少人数のタグを選ぶ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active = active.filter((id) =&gt; id !== victim);</a:t>
            </a:r>
            <a:endParaRPr lang="ja-JP" alt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ja-JP" altLang="en-US" sz="15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ja-JP" altLang="en-US" sz="1500" dirty="0"/>
          </a:p>
        </p:txBody>
      </p:sp>
      <p:sp>
        <p:nvSpPr>
          <p:cNvPr id="9" name="code-source"/>
          <p:cNvSpPr txBox="1"/>
          <p:nvPr/>
        </p:nvSpPr>
        <p:spPr>
          <a:xfrm>
            <a:off x="640080" y="5748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src/lib/assign.ts 233–251行（「…」は省略、改行位置のみ変更）</a:t>
            </a:r>
            <a:endParaRPr lang="ja-JP" altLang="en-US" sz="1400" dirty="0"/>
          </a:p>
        </p:txBody>
      </p:sp>
      <p:sp>
        <p:nvSpPr>
          <p:cNvPr id="10" name="item-no-1"/>
          <p:cNvSpPr txBox="1"/>
          <p:nvPr/>
        </p:nvSpPr>
        <p:spPr>
          <a:xfrm>
            <a:off x="740664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altLang="en-US" sz="2200" dirty="0"/>
          </a:p>
        </p:txBody>
      </p:sp>
      <p:sp>
        <p:nvSpPr>
          <p:cNvPr id="11" name="item-1"/>
          <p:cNvSpPr txBox="1"/>
          <p:nvPr/>
        </p:nvSpPr>
        <p:spPr>
          <a:xfrm>
            <a:off x="8138160" y="210312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各人に、順位の</a:t>
            </a:r>
            <a:endParaRPr lang="ja-JP" alt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上位2つを持たせる</a:t>
            </a:r>
            <a:endParaRPr lang="ja-JP" altLang="en-US" sz="2200" dirty="0"/>
          </a:p>
        </p:txBody>
      </p:sp>
      <p:sp>
        <p:nvSpPr>
          <p:cNvPr id="12" name="item-no-2"/>
          <p:cNvSpPr txBox="1"/>
          <p:nvPr/>
        </p:nvSpPr>
        <p:spPr>
          <a:xfrm>
            <a:off x="740664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altLang="en-US" sz="2200" dirty="0"/>
          </a:p>
        </p:txBody>
      </p:sp>
      <p:sp>
        <p:nvSpPr>
          <p:cNvPr id="13" name="item-2"/>
          <p:cNvSpPr txBox="1"/>
          <p:nvPr/>
        </p:nvSpPr>
        <p:spPr>
          <a:xfrm>
            <a:off x="8138160" y="33375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下限未満のタグから</a:t>
            </a:r>
            <a:endParaRPr lang="ja-JP" alt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最少の1つを外す</a:t>
            </a:r>
            <a:endParaRPr lang="ja-JP" altLang="en-US" sz="2200" dirty="0"/>
          </a:p>
        </p:txBody>
      </p:sp>
      <p:sp>
        <p:nvSpPr>
          <p:cNvPr id="14" name="item-no-3"/>
          <p:cNvSpPr txBox="1"/>
          <p:nvPr/>
        </p:nvSpPr>
        <p:spPr>
          <a:xfrm>
            <a:off x="7406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altLang="en-US" sz="2200" dirty="0"/>
          </a:p>
        </p:txBody>
      </p:sp>
      <p:sp>
        <p:nvSpPr>
          <p:cNvPr id="15" name="item-3"/>
          <p:cNvSpPr txBox="1"/>
          <p:nvPr/>
        </p:nvSpPr>
        <p:spPr>
          <a:xfrm>
            <a:off x="8138160" y="45720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下限未満がなくなる</a:t>
            </a:r>
            <a:endParaRPr lang="ja-JP" alt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まで繰り返す</a:t>
            </a:r>
            <a:endParaRPr lang="ja-JP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12</a:t>
            </a:fld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2474976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#付録A2 出力の検証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崩れたJSONは、理由を添えて最大3回まで再依頼</a:t>
            </a:r>
            <a:endParaRPr lang="ja-JP" altLang="en-US" sz="3400" dirty="0"/>
          </a:p>
        </p:txBody>
      </p:sp>
      <p:sp>
        <p:nvSpPr>
          <p:cNvPr id="4" name="code-panel"/>
          <p:cNvSpPr/>
          <p:nvPr/>
        </p:nvSpPr>
        <p:spPr>
          <a:xfrm>
            <a:off x="640080" y="1920240"/>
            <a:ext cx="6400800" cy="3958336"/>
          </a:xfrm>
          <a:prstGeom prst="roundRect">
            <a:avLst>
              <a:gd name="adj" fmla="val 2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de-highlight-2"/>
          <p:cNvSpPr/>
          <p:nvPr/>
        </p:nvSpPr>
        <p:spPr>
          <a:xfrm>
            <a:off x="713232" y="2357120"/>
            <a:ext cx="6254496" cy="2722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ode-highlight-4"/>
          <p:cNvSpPr/>
          <p:nvPr/>
        </p:nvSpPr>
        <p:spPr>
          <a:xfrm>
            <a:off x="713232" y="2865120"/>
            <a:ext cx="6254496" cy="2722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ode-highlight-13"/>
          <p:cNvSpPr/>
          <p:nvPr/>
        </p:nvSpPr>
        <p:spPr>
          <a:xfrm>
            <a:off x="713232" y="5151120"/>
            <a:ext cx="6254496" cy="27228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822960" y="2121408"/>
            <a:ext cx="612648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try {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text = extractJsonText(contentStr);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parsed: unknown = JSON.parse(text);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r = opts.schema.safeParse(parsed);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if (!r.success) { /* … */ throw new Error(…); }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// …validate で追加検査、成功なら return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 catch (e) {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const reason = e instanceof Error ? e.message : String(e);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if (attempts &gt;= 3) { /* … */ throw new LlmError(…); }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messages = [...messages,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  { role: 'assistant', content: contentStr.slice(0, 2000) },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  { role: 'user', content: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      `前の出力は条件を満たしていません：${reason}。…` }];</a:t>
            </a:r>
            <a:endParaRPr lang="ja-JP" alt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ja-JP" altLang="en-US" sz="1400" dirty="0">
                <a:solidFill>
                  <a:schemeClr val="tx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}</a:t>
            </a:r>
            <a:endParaRPr lang="ja-JP" altLang="en-US" sz="1400" dirty="0"/>
          </a:p>
        </p:txBody>
      </p:sp>
      <p:sp>
        <p:nvSpPr>
          <p:cNvPr id="9" name="code-source"/>
          <p:cNvSpPr txBox="1"/>
          <p:nvPr/>
        </p:nvSpPr>
        <p:spPr>
          <a:xfrm>
            <a:off x="640080" y="59517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src/lib/llm/client.ts 280–311行（「…」は省略、改行位置のみ変更）</a:t>
            </a:r>
            <a:endParaRPr lang="ja-JP" altLang="en-US" sz="1400" dirty="0"/>
          </a:p>
        </p:txBody>
      </p:sp>
      <p:sp>
        <p:nvSpPr>
          <p:cNvPr id="10" name="item-no-1"/>
          <p:cNvSpPr txBox="1"/>
          <p:nvPr/>
        </p:nvSpPr>
        <p:spPr>
          <a:xfrm>
            <a:off x="740664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altLang="en-US" sz="2200" dirty="0"/>
          </a:p>
        </p:txBody>
      </p:sp>
      <p:sp>
        <p:nvSpPr>
          <p:cNvPr id="11" name="item-1"/>
          <p:cNvSpPr txBox="1"/>
          <p:nvPr/>
        </p:nvSpPr>
        <p:spPr>
          <a:xfrm>
            <a:off x="8138160" y="210312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思考の欄やコード記号を</a:t>
            </a:r>
            <a:endParaRPr lang="ja-JP" alt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除いてJSONを取り出す</a:t>
            </a:r>
            <a:endParaRPr lang="ja-JP" altLang="en-US" sz="2200" dirty="0"/>
          </a:p>
        </p:txBody>
      </p:sp>
      <p:sp>
        <p:nvSpPr>
          <p:cNvPr id="12" name="item-no-2"/>
          <p:cNvSpPr txBox="1"/>
          <p:nvPr/>
        </p:nvSpPr>
        <p:spPr>
          <a:xfrm>
            <a:off x="740664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altLang="en-US" sz="2200" dirty="0"/>
          </a:p>
        </p:txBody>
      </p:sp>
      <p:sp>
        <p:nvSpPr>
          <p:cNvPr id="13" name="item-2"/>
          <p:cNvSpPr txBox="1"/>
          <p:nvPr/>
        </p:nvSpPr>
        <p:spPr>
          <a:xfrm>
            <a:off x="8138160" y="333756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zodで形式を検証する</a:t>
            </a:r>
            <a:endParaRPr lang="ja-JP" altLang="en-US" sz="2200" dirty="0"/>
          </a:p>
        </p:txBody>
      </p:sp>
      <p:sp>
        <p:nvSpPr>
          <p:cNvPr id="14" name="item-no-3"/>
          <p:cNvSpPr txBox="1"/>
          <p:nvPr/>
        </p:nvSpPr>
        <p:spPr>
          <a:xfrm>
            <a:off x="7406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altLang="en-US" sz="2200" dirty="0"/>
          </a:p>
        </p:txBody>
      </p:sp>
      <p:sp>
        <p:nvSpPr>
          <p:cNvPr id="15" name="item-3"/>
          <p:cNvSpPr txBox="1"/>
          <p:nvPr/>
        </p:nvSpPr>
        <p:spPr>
          <a:xfrm>
            <a:off x="8138160" y="45720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失敗理由を会話に</a:t>
            </a:r>
            <a:endParaRPr lang="ja-JP" alt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足して再依頼する</a:t>
            </a:r>
            <a:endParaRPr lang="ja-JP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13</a:t>
            </a:fld>
            <a:endParaRPr lang="ja-JP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ag"/>
          <p:cNvSpPr txBox="1"/>
          <p:nvPr/>
        </p:nvSpPr>
        <p:spPr>
          <a:xfrm>
            <a:off x="640080" y="384048"/>
            <a:ext cx="2881376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#付録A3 学外からの利用</a:t>
            </a:r>
            <a:endParaRPr lang="ja-JP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896112"/>
            <a:ext cx="10911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学外からは、ngrokのGoogle認証を通して使う</a:t>
            </a:r>
            <a:endParaRPr lang="ja-JP" altLang="en-US" sz="3400" dirty="0"/>
          </a:p>
        </p:txBody>
      </p:sp>
      <p:sp>
        <p:nvSpPr>
          <p:cNvPr id="4" name="campus-boundary"/>
          <p:cNvSpPr/>
          <p:nvPr/>
        </p:nvSpPr>
        <p:spPr>
          <a:xfrm>
            <a:off x="6177077" y="2103120"/>
            <a:ext cx="5557418" cy="2103120"/>
          </a:xfrm>
          <a:prstGeom prst="roundRect">
            <a:avLst>
              <a:gd name="adj" fmla="val 6522"/>
            </a:avLst>
          </a:prstGeom>
          <a:solidFill>
            <a:schemeClr val="accent4"/>
          </a:solidFill>
          <a:ln w="22225">
            <a:solidFill>
              <a:schemeClr val="tx2"/>
            </a:solidFill>
            <a:prstDash val="dash"/>
          </a:ln>
        </p:spPr>
      </p:sp>
      <p:sp>
        <p:nvSpPr>
          <p:cNvPr id="5" name="campus-label"/>
          <p:cNvSpPr txBox="1"/>
          <p:nvPr/>
        </p:nvSpPr>
        <p:spPr>
          <a:xfrm>
            <a:off x="6359957" y="2194560"/>
            <a:ext cx="51916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学内ネットワーク／OU-VPN</a:t>
            </a:r>
            <a:endParaRPr lang="ja-JP" altLang="en-US" sz="1600" dirty="0"/>
          </a:p>
        </p:txBody>
      </p:sp>
      <p:sp>
        <p:nvSpPr>
          <p:cNvPr id="6" name="path-browser"/>
          <p:cNvSpPr txBox="1"/>
          <p:nvPr/>
        </p:nvSpPr>
        <p:spPr>
          <a:xfrm>
            <a:off x="640080" y="2697480"/>
            <a:ext cx="23317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許可した人の</a:t>
            </a:r>
            <a:endParaRPr lang="ja-JP" altLang="en-US" sz="2000" dirty="0"/>
          </a:p>
          <a:p>
            <a:pPr algn="ctr"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ブラウザ</a:t>
            </a:r>
            <a:endParaRPr lang="ja-JP" altLang="en-US" sz="2000" dirty="0"/>
          </a:p>
        </p:txBody>
      </p:sp>
      <p:sp>
        <p:nvSpPr>
          <p:cNvPr id="7" name="path-ngrok"/>
          <p:cNvSpPr txBox="1"/>
          <p:nvPr/>
        </p:nvSpPr>
        <p:spPr>
          <a:xfrm>
            <a:off x="3500018" y="2697480"/>
            <a:ext cx="23317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ngrok</a:t>
            </a:r>
            <a:endParaRPr lang="ja-JP" altLang="en-US" sz="20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Google認証</a:t>
            </a:r>
            <a:endParaRPr lang="ja-JP" altLang="en-US" sz="2000" dirty="0"/>
          </a:p>
        </p:txBody>
      </p:sp>
      <p:sp>
        <p:nvSpPr>
          <p:cNvPr id="8" name="path-pc"/>
          <p:cNvSpPr txBox="1"/>
          <p:nvPr/>
        </p:nvSpPr>
        <p:spPr>
          <a:xfrm>
            <a:off x="6359957" y="2697480"/>
            <a:ext cx="23317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主催者のPC</a:t>
            </a:r>
            <a:endParaRPr lang="ja-JP" altLang="en-US" sz="2000" dirty="0"/>
          </a:p>
          <a:p>
            <a:pPr algn="ctr" indent="0" marL="0">
              <a:buNone/>
            </a:pPr>
            <a:r>
              <a:rPr lang="ja-JP" altLang="en-US" sz="1600" dirty="0">
                <a:solidFill>
                  <a:schemeClr val="accent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Next.js</a:t>
            </a:r>
            <a:endParaRPr lang="ja-JP" altLang="en-US" sz="2000" dirty="0"/>
          </a:p>
        </p:txBody>
      </p:sp>
      <p:sp>
        <p:nvSpPr>
          <p:cNvPr id="9" name="path-oitoma"/>
          <p:cNvSpPr txBox="1"/>
          <p:nvPr/>
        </p:nvSpPr>
        <p:spPr>
          <a:xfrm>
            <a:off x="9219895" y="2697480"/>
            <a:ext cx="233172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おいとま</a:t>
            </a:r>
            <a:endParaRPr lang="ja-JP" altLang="en-US" sz="2000" dirty="0"/>
          </a:p>
        </p:txBody>
      </p:sp>
      <p:cxnSp>
        <p:nvCxnSpPr>
          <p:cNvPr id="10" name="path-arrow-1"/>
          <p:cNvCxnSpPr>
            <a:stCxn id="6" idx="3"/>
            <a:endCxn id="7" idx="1"/>
          </p:cNvCxnSpPr>
          <p:nvPr/>
        </p:nvCxnSpPr>
        <p:spPr>
          <a:xfrm>
            <a:off x="3026664" y="3337560"/>
            <a:ext cx="4184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cxnSp>
      <p:cxnSp>
        <p:nvCxnSpPr>
          <p:cNvPr id="11" name="path-arrow-2"/>
          <p:cNvCxnSpPr>
            <a:stCxn id="7" idx="3"/>
            <a:endCxn id="8" idx="1"/>
          </p:cNvCxnSpPr>
          <p:nvPr/>
        </p:nvCxnSpPr>
        <p:spPr>
          <a:xfrm>
            <a:off x="5886602" y="3337560"/>
            <a:ext cx="4184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cxnSp>
      <p:cxnSp>
        <p:nvCxnSpPr>
          <p:cNvPr id="12" name="path-arrow-3"/>
          <p:cNvCxnSpPr>
            <a:stCxn id="8" idx="3"/>
            <a:endCxn id="9" idx="1"/>
          </p:cNvCxnSpPr>
          <p:nvPr/>
        </p:nvCxnSpPr>
        <p:spPr>
          <a:xfrm>
            <a:off x="8746541" y="3337560"/>
            <a:ext cx="41849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headEnd type="triangle"/>
            <a:tailEnd type="triangle"/>
          </a:ln>
        </p:spPr>
      </p:cxnSp>
      <p:sp>
        <p:nvSpPr>
          <p:cNvPr id="13" name="item-no-1"/>
          <p:cNvSpPr txBox="1"/>
          <p:nvPr/>
        </p:nvSpPr>
        <p:spPr>
          <a:xfrm>
            <a:off x="822960" y="4526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altLang="en-US" sz="2200" dirty="0"/>
          </a:p>
        </p:txBody>
      </p:sp>
      <p:sp>
        <p:nvSpPr>
          <p:cNvPr id="14" name="item-1"/>
          <p:cNvSpPr txBox="1"/>
          <p:nvPr/>
        </p:nvSpPr>
        <p:spPr>
          <a:xfrm>
            <a:off x="1554480" y="452628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AIの処理は学内。ただし通信はngrokを経由する</a:t>
            </a:r>
            <a:endParaRPr lang="ja-JP" altLang="en-US" sz="2200" dirty="0"/>
          </a:p>
        </p:txBody>
      </p:sp>
      <p:sp>
        <p:nvSpPr>
          <p:cNvPr id="15" name="item-no-2"/>
          <p:cNvSpPr txBox="1"/>
          <p:nvPr/>
        </p:nvSpPr>
        <p:spPr>
          <a:xfrm>
            <a:off x="822960" y="5074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altLang="en-US" sz="2200" dirty="0"/>
          </a:p>
        </p:txBody>
      </p:sp>
      <p:sp>
        <p:nvSpPr>
          <p:cNvPr id="16" name="item-2"/>
          <p:cNvSpPr txBox="1"/>
          <p:nvPr/>
        </p:nvSpPr>
        <p:spPr>
          <a:xfrm>
            <a:off x="1554480" y="507492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手順書で、通信内容を残さない設定にする</a:t>
            </a:r>
            <a:endParaRPr lang="ja-JP" altLang="en-US" sz="2200" dirty="0"/>
          </a:p>
        </p:txBody>
      </p:sp>
      <p:sp>
        <p:nvSpPr>
          <p:cNvPr id="17" name="item-no-3"/>
          <p:cNvSpPr txBox="1"/>
          <p:nvPr/>
        </p:nvSpPr>
        <p:spPr>
          <a:xfrm>
            <a:off x="822960" y="5623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accent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altLang="en-US" sz="2200" dirty="0"/>
          </a:p>
        </p:txBody>
      </p:sp>
      <p:sp>
        <p:nvSpPr>
          <p:cNvPr id="18" name="item-3"/>
          <p:cNvSpPr txBox="1"/>
          <p:nvPr/>
        </p:nvSpPr>
        <p:spPr>
          <a:xfrm>
            <a:off x="1554480" y="562356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200" dirty="0">
                <a:solidFill>
                  <a:schemeClr val="tx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認証の動作確認は、資料上まだ記録がない</a:t>
            </a:r>
            <a:endParaRPr lang="ja-JP" alt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r"/>
            <a:fld id="{F7021451-1387-4CA6-816F-3879F97B5CBC}" type="slidenum">
              <a:rPr b="0" lang="ja-JP" altLang="en-US"/>
              <a:t>14</a:t>
            </a:fld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itoma Katsuyouchu">
  <a:themeElements>
    <a:clrScheme name="Oitoma Katsuyouchu">
      <a:dk1>
        <a:srgbClr val="222222"/>
      </a:dk1>
      <a:lt1>
        <a:srgbClr val="FFFFFF"/>
      </a:lt1>
      <a:dk2>
        <a:srgbClr val="1F3A5F"/>
      </a:dk2>
      <a:lt2>
        <a:srgbClr val="F3F4F6"/>
      </a:lt2>
      <a:accent1>
        <a:srgbClr val="E4572E"/>
      </a:accent1>
      <a:accent2>
        <a:srgbClr val="5B6270"/>
      </a:accent2>
      <a:accent3>
        <a:srgbClr val="B4401A"/>
      </a:accent3>
      <a:accent4>
        <a:srgbClr val="E9EEF5"/>
      </a:accent4>
      <a:accent5>
        <a:srgbClr val="FDEDE7"/>
      </a:accent5>
      <a:accent6>
        <a:srgbClr val="1C1C1E"/>
      </a:accent6>
      <a:hlink>
        <a:srgbClr val="1F3A5F"/>
      </a:hlink>
      <a:folHlink>
        <a:srgbClr val="5B6270"/>
      </a:folHlink>
    </a:clrScheme>
    <a:fontScheme name="Oitoma Katsuyouchu">
      <a:maj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#おいとま活用中 — 学内AI おいとまで名札に話題を足す</dc:title>
  <dc:subject>開発成果報告（4分）</dc:subject>
  <dc:creator>#おいとま活用中 開発チーム</dc:creator>
  <cp:lastModifiedBy>#おいとま活用中 開発チーム</cp:lastModifiedBy>
  <cp:revision>1</cp:revision>
  <dcterms:created xsi:type="dcterms:W3CDTF">2026-10-15T06:11:24Z</dcterms:created>
  <dcterms:modified xsi:type="dcterms:W3CDTF">2026-10-15T06:11:24Z</dcterms:modified>
</cp:coreProperties>
</file>